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  <p:sldId id="273" r:id="rId5"/>
    <p:sldId id="274" r:id="rId6"/>
    <p:sldId id="302" r:id="rId7"/>
    <p:sldId id="278" r:id="rId8"/>
    <p:sldId id="304" r:id="rId9"/>
    <p:sldId id="306" r:id="rId10"/>
    <p:sldId id="305" r:id="rId11"/>
    <p:sldId id="307" r:id="rId12"/>
    <p:sldId id="308" r:id="rId13"/>
    <p:sldId id="309" r:id="rId14"/>
    <p:sldId id="310" r:id="rId15"/>
    <p:sldId id="313" r:id="rId16"/>
    <p:sldId id="3014" r:id="rId17"/>
    <p:sldId id="3015" r:id="rId18"/>
    <p:sldId id="3016" r:id="rId19"/>
    <p:sldId id="3017" r:id="rId20"/>
    <p:sldId id="282" r:id="rId21"/>
    <p:sldId id="3019" r:id="rId22"/>
    <p:sldId id="3020" r:id="rId23"/>
    <p:sldId id="3021" r:id="rId24"/>
    <p:sldId id="3022" r:id="rId25"/>
    <p:sldId id="3023" r:id="rId26"/>
    <p:sldId id="3024" r:id="rId27"/>
    <p:sldId id="3025" r:id="rId28"/>
    <p:sldId id="3026" r:id="rId29"/>
    <p:sldId id="3027" r:id="rId30"/>
    <p:sldId id="286" r:id="rId31"/>
    <p:sldId id="3029" r:id="rId32"/>
    <p:sldId id="3030" r:id="rId33"/>
    <p:sldId id="3031" r:id="rId34"/>
    <p:sldId id="3032" r:id="rId35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变体正确</c:v>
                </c:pt>
              </c:strCache>
            </c:strRef>
          </c:tx>
          <c:spPr>
            <a:solidFill>
              <a:srgbClr val="1D5B98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C</c:v>
                </c:pt>
                <c:pt idx="1">
                  <c:v>W</c:v>
                </c:pt>
                <c:pt idx="2">
                  <c:v>H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</c:v>
                </c:pt>
                <c:pt idx="1">
                  <c:v>19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错类</c:v>
                </c:pt>
              </c:strCache>
            </c:strRef>
          </c:tx>
          <c:spPr>
            <a:solidFill>
              <a:srgbClr val="C58441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C</c:v>
                </c:pt>
                <c:pt idx="1">
                  <c:v>W</c:v>
                </c:pt>
                <c:pt idx="2">
                  <c:v>H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8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无法判断</c:v>
                </c:pt>
              </c:strCache>
            </c:strRef>
          </c:tx>
          <c:spPr>
            <a:solidFill>
              <a:srgbClr val="C7D1DC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rgbClr val="17233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Data'!$E$2:$E$4</c:f>
              <c:strCache>
                <c:ptCount val="3"/>
                <c:pt idx="0">
                  <c:v>C</c:v>
                </c:pt>
                <c:pt idx="1">
                  <c:v>W</c:v>
                </c:pt>
                <c:pt idx="2">
                  <c:v>H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14</c:v>
                </c:pt>
                <c:pt idx="1">
                  <c:v>12</c:v>
                </c:pt>
                <c:pt idx="2">
                  <c:v>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axMin"/>
        </c:scaling>
        <c:delete val="0"/>
        <c:axPos val="l"/>
        <c:majorGridlines>
          <c:spPr>
            <a:ln w="4763" cap="flat" cmpd="sng" algn="ctr">
              <a:solidFill>
                <a:srgbClr val="DCE3EA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725" b="0" i="0" u="none" strike="noStrike" kern="1200" baseline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75ef42-29b5-458a-a529-6d4e3c4e1b54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B7C53-FF19-4594-8A08-AF663E4BB809}" type="datetimeFigureOut">
              <a:rPr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23CDC-B8F4-4428-A377-0E1D75E83171}" type="slidenum">
              <a:rPr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b="0" i="0" dirty="0">
              <a:solidFill>
                <a:srgbClr val="24292F"/>
              </a:solidFill>
              <a:effectLst/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6F175-4ECC-FD4F-B375-869C7633B364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6F175-4ECC-FD4F-B375-869C7633B364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6F175-4ECC-FD4F-B375-869C7633B364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6F175-4ECC-FD4F-B375-869C7633B364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来源：Sun et al. (2024), Design-time business process compliance assessment based on multi-granularity semantic information，§4.3 Definitions 4–7。出版信息：https://doi.org/10.1007/s11227-023-05626-0。公式依据：项目本地作者稿 references/papers/Sun_2024_Design_time_BPC.pdf，第 13–14 页；出版社公开页面仅提供摘要。项目方法级独立重建：formal_experiment/src/bpc_hybrid/sun_stage3/sun_scorer.py。原文公式与项目开发后继检查器不混称。</a:t>
            </a:r>
          </a:p>
          <a:p>
            <a:r>
              <a:t>Definition 4 的 O_{r,m} 来自法规 Actor 与流程 Actor/Business Object 的匹配，不是 Constraint 集合。原文求和的布尔条件以 Iverson 括号明确表示。Definition 5 保留严格 &lt; γ。这里的 1/4 是假设示例。整体规则关联排序在违规评分之前执行，τ 不等同于 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来源：Sun et al. (2024), Design-time business process compliance assessment based on multi-granularity semantic information，§4.3 Definitions 4–7。出版信息：https://doi.org/10.1007/s11227-023-05626-0。公式依据：项目本地作者稿 references/papers/Sun_2024_Design_time_BPC.pdf，第 13–14 页；出版社公开页面仅提供摘要。项目方法级独立重建：formal_experiment/src/bpc_hybrid/sun_stage3/sun_scorer.py。原文公式与项目开发后继检查器不混称。</a:t>
            </a:r>
          </a:p>
          <a:p>
            <a:r>
              <a:t>Actor 公式中的 x、y 仅为原文演员变量 r、r′ 的更名，避免与 Rule Record r 混淆。R={g∈P_r | ∃(a_r,a_m)∈D_{r,m}, f_r(g)=a_r ∧ sim(a_r,a_m)&gt;γ}。C={y∈bs_obj(A_m∪E_m)∪R_m | ∃g∈R, sim(f_r(g),f_m(y))&gt;γ}。保留原文存在量词，不能改写为 1−max(sim)。</a:t>
            </a:r>
          </a:p>
          <a:p>
            <a:r>
              <a:t>令 φ(u) 为 D_{r,m} 给定的最佳流程动作，U={ (u,v)∈U_r | sim(u,φ(u))&gt;γ ∧ sim(v,φ(v))&gt;γ }。K 是原 Definition 7 正确顺序集合的简写，满足映射后的正向 F_m 与反向非 F_m。这里沿论文说明用可达性解释流程关系。分母空缺不提供合规证据；冻结实现部分空分母返回数值 0，开发检查器进一步显式标为 unknown，本页不把该实现细节误作原论文新增定义。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来源：formal_experiment/src/bpc_hybrid/stage3_extended_violations.py</a:t>
            </a:r>
          </a:p>
          <a:p>
            <a:r>
              <a:t>来源：formal_experiment/src/bpc_hybrid/s3_extended_v3_repair_v2.py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来源：formal_experiment/src/bpc_hybrid/stage3_extended_violations.py</a:t>
            </a:r>
          </a:p>
          <a:p>
            <a:r>
              <a:t>来源：formal_experiment/src/bpc_hybrid/s3_extended_v3_repair_v2.py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来源：formal_experiment/src/bpc_hybrid/stage3_extended_violations.py</a:t>
            </a:r>
          </a:p>
          <a:p>
            <a:r>
              <a:t>来源：formal_experiment/src/bpc_hybrid/s3_extended_v3_repair_v2.py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来源：formal_experiment/src/bpc_hybrid/stage3_extended_violations.py</a:t>
            </a:r>
          </a:p>
          <a:p>
            <a:r>
              <a:t>来源：formal_experiment/src/bpc_hybrid/s3_extended_v3_repair_v2.py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3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6F175-4ECC-FD4F-B375-869C7633B364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来源：formal_experiment/outputs/reports/stage2_formal_three_method_comparison_v1.md</a:t>
            </a:r>
          </a:p>
          <a:p>
            <a:r>
              <a:t>来源：formal_experiment/outputs/development/s3_action_matching_v3/metrics.json</a:t>
            </a:r>
          </a:p>
          <a:p>
            <a:r>
              <a:t>来源：formal_experiment/outputs/development/s3_real_rule_diagnostic_corrections_v1/summary.json</a:t>
            </a:r>
          </a:p>
          <a:p>
            <a:r>
              <a:t>来源：formal_experiment/outputs/reports/sim_case_c1_results.md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来源：formal_experiment/outputs/reports/stage2_formal_three_method_comparison_v1.md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来源：formal_experiment/outputs/reports/d1_prompt_factorial_results_v1.json</a:t>
            </a:r>
          </a:p>
          <a:p>
            <a:r>
              <a:t>来源：formal_experiment/outputs/reports/d1_prompt_factorial_results_v1.md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来源：formal_experiment/outputs/reports/d_full_postprocessing_ablation_v1.json</a:t>
            </a:r>
          </a:p>
          <a:p>
            <a:r>
              <a:t>来源：formal_experiment/outputs/reports/d_full_postprocessing_ablation_v1.md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来源：formal_experiment/outputs/development/s3_action_matching_v3/metrics.json</a:t>
            </a:r>
          </a:p>
          <a:p>
            <a:r>
              <a:t>来源：formal_experiment/outputs/development/s3_action_matching_v3/manifest.json</a:t>
            </a:r>
          </a:p>
          <a:p>
            <a:r>
              <a:t>来源：formal_experiment/outputs/development/s3_paired_mechanism_v1/REPORT.md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来源：formal_experiment/outputs/development/s3_real_rule_diagnostic_v1/summary.json</a:t>
            </a:r>
          </a:p>
          <a:p>
            <a:r>
              <a:t>来源：formal_experiment/outputs/development/s3_real_rule_diagnostic_corrections_v1/summary.json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来源：formal_experiment/outputs/reports/s3_formula_repair_v2.json</a:t>
            </a:r>
          </a:p>
          <a:p>
            <a:r>
              <a:t>来源：formal_experiment/outputs/evidence/s3_formula_repair_v2/manifest.json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来源：formal_experiment/outputs/development/s3_extended_acceptance_recompute_v1/metrics.json</a:t>
            </a:r>
          </a:p>
          <a:p>
            <a:r>
              <a:t>来源：formal_experiment/outputs/development/s3_extended_evidence_scope_v1/manifest.json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来源：formal_experiment/outputs/reports/sim_case_c1_results.md</a:t>
            </a:r>
          </a:p>
          <a:p>
            <a:r>
              <a:t>来源：formal_experiment/outputs/reports/sim_case_c1_results.json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6F175-4ECC-FD4F-B375-869C7633B364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来源：formal_experiment/outputs/reports/stage2_formal_three_method_comparison_v1.md</a:t>
            </a:r>
          </a:p>
          <a:p>
            <a:r>
              <a:t>来源：formal_experiment/outputs/development/s3_action_matching_v3/metrics.json</a:t>
            </a:r>
          </a:p>
          <a:p>
            <a:r>
              <a:t>来源：formal_experiment/outputs/reports/sim_case_c1_results.md</a:t>
            </a:r>
          </a:p>
          <a:p>
            <a:r>
              <a:t>来源：formal_experiment/docs/PROJECT_AUDIT.md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来源：formal_experiment/docs/PROJECT_AUDIT.md</a:t>
            </a:r>
          </a:p>
          <a:p>
            <a:r>
              <a:t>来源：formal_experiment/outputs/reports/sim_case_c1_results.md</a:t>
            </a:r>
          </a:p>
          <a:p>
            <a:r>
              <a:t>来源：formal_experiment/outputs/reports/d1_prompt_factorial_results_v1.md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来源：formal_experiment/docs/MASTER_PIPELINE.md</a:t>
            </a:r>
          </a:p>
          <a:p>
            <a:r>
              <a:t>来源：formal_experiment/docs/PROJECT_AUDIT.md</a:t>
            </a:r>
          </a:p>
          <a:p>
            <a:r>
              <a:t>来源：formal_experiment/outputs/reports/sim_case_c1_results.md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来源：formal_experiment/docs/PROJECT_AUDIT.md</a:t>
            </a:r>
          </a:p>
          <a:p>
            <a:r>
              <a:t>来源：formal_experiment/paper/CLAIM_EVIDENCE_MATRIX.md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9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3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5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6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3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2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3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5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4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5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5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1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6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7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4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7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11876"/>
            <a:ext cx="12188296" cy="68538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 advTm="35000">
        <p14:prism/>
      </p:transition>
    </mc:Choice>
    <mc:Fallback>
      <p:transition spd="slow" advTm="3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空白">
    <p:bg>
      <p:bgPr>
        <a:solidFill>
          <a:schemeClr val="bg1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5"/>
          <p:cNvSpPr/>
          <p:nvPr/>
        </p:nvSpPr>
        <p:spPr>
          <a:xfrm>
            <a:off x="0" y="0"/>
            <a:ext cx="12192000" cy="636494"/>
          </a:xfrm>
          <a:prstGeom prst="rect">
            <a:avLst/>
          </a:prstGeom>
          <a:solidFill>
            <a:srgbClr val="0343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364" y="957640"/>
            <a:ext cx="11424000" cy="5418000"/>
          </a:xfrm>
          <a:noFill/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800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lnSpc>
                <a:spcPct val="100000"/>
              </a:lnSpc>
              <a:defRPr sz="1800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r>
              <a:rPr lang="zh-CN" altLang="en-US" dirty="0"/>
              <a:t>
第二级
第三级
第四级
第五级</a:t>
            </a:r>
            <a:endParaRPr lang="en-US" dirty="0"/>
          </a:p>
        </p:txBody>
      </p:sp>
      <p:sp>
        <p:nvSpPr>
          <p:cNvPr id="24" name="标题 2"/>
          <p:cNvSpPr>
            <a:spLocks noGrp="1"/>
          </p:cNvSpPr>
          <p:nvPr>
            <p:ph type="title" hasCustomPrompt="1"/>
          </p:nvPr>
        </p:nvSpPr>
        <p:spPr>
          <a:xfrm>
            <a:off x="0" y="-77024"/>
            <a:ext cx="8518079" cy="768750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25" name="矩形 11"/>
          <p:cNvSpPr/>
          <p:nvPr userDrawn="1"/>
        </p:nvSpPr>
        <p:spPr>
          <a:xfrm>
            <a:off x="0" y="6425565"/>
            <a:ext cx="12192000" cy="432435"/>
          </a:xfrm>
          <a:prstGeom prst="rect">
            <a:avLst/>
          </a:prstGeom>
          <a:solidFill>
            <a:srgbClr val="0343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Design-Time Business Process Compliance Checking with LLM-Based Semantic Extraction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3395" y="0"/>
            <a:ext cx="2918603" cy="614702"/>
          </a:xfrm>
          <a:prstGeom prst="rect">
            <a:avLst/>
          </a:prstGeom>
          <a:ln>
            <a:solidFill>
              <a:srgbClr val="03428B"/>
            </a:solidFill>
          </a:ln>
        </p:spPr>
      </p:pic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2AAB7-EF65-4FB5-8ECF-8589DD2D0660}" type="datetimeFigureOut">
              <a:rPr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16121-F896-4172-87E9-C2BC1B5848A2}" type="slidenum">
              <a:rPr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chart" Target="../charts/char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11"/>
          <p:cNvSpPr txBox="1"/>
          <p:nvPr/>
        </p:nvSpPr>
        <p:spPr>
          <a:xfrm>
            <a:off x="983615" y="1629410"/>
            <a:ext cx="1023366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Design-Time Business Process Compliance Checking with LLM-Based Semantic Extraction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18"/>
          <p:cNvCxnSpPr/>
          <p:nvPr/>
        </p:nvCxnSpPr>
        <p:spPr>
          <a:xfrm>
            <a:off x="254126" y="3503681"/>
            <a:ext cx="5439664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9"/>
          <p:cNvCxnSpPr/>
          <p:nvPr/>
        </p:nvCxnSpPr>
        <p:spPr>
          <a:xfrm>
            <a:off x="6096000" y="3497731"/>
            <a:ext cx="5841874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椭圆 25"/>
          <p:cNvSpPr/>
          <p:nvPr/>
        </p:nvSpPr>
        <p:spPr>
          <a:xfrm>
            <a:off x="5825764" y="3459463"/>
            <a:ext cx="135117" cy="76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/>
          <p:cNvSpPr txBox="1"/>
          <p:nvPr/>
        </p:nvSpPr>
        <p:spPr>
          <a:xfrm>
            <a:off x="8842341" y="5676017"/>
            <a:ext cx="295278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汇报人：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霍颖超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r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汇报时间：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2026.09.11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5"/>
          <p:cNvSpPr/>
          <p:nvPr/>
        </p:nvSpPr>
        <p:spPr bwMode="auto">
          <a:xfrm>
            <a:off x="517332" y="2149125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8" name="Freeform 5"/>
          <p:cNvSpPr/>
          <p:nvPr/>
        </p:nvSpPr>
        <p:spPr bwMode="auto">
          <a:xfrm>
            <a:off x="627578" y="2137743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9" name="矩形 47"/>
          <p:cNvSpPr/>
          <p:nvPr/>
        </p:nvSpPr>
        <p:spPr>
          <a:xfrm>
            <a:off x="738485" y="2998128"/>
            <a:ext cx="2899077" cy="859155"/>
          </a:xfrm>
          <a:prstGeom prst="rect">
            <a:avLst/>
          </a:prstGeom>
        </p:spPr>
        <p:txBody>
          <a:bodyPr wrap="square" lIns="121891" tIns="60945" rIns="121891" bIns="60945">
            <a:spAutoFit/>
          </a:bodyPr>
          <a:lstStyle/>
          <a:p>
            <a:pPr defTabSz="1245235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kern="0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 Outline</a:t>
            </a:r>
            <a:endParaRPr lang="zh-CN" altLang="en-US" sz="4800" kern="0" dirty="0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50" name="组合 31"/>
          <p:cNvGrpSpPr/>
          <p:nvPr/>
        </p:nvGrpSpPr>
        <p:grpSpPr>
          <a:xfrm>
            <a:off x="4334366" y="867211"/>
            <a:ext cx="6431043" cy="1134781"/>
            <a:chOff x="3781167" y="-569597"/>
            <a:chExt cx="7100675" cy="1134781"/>
          </a:xfrm>
        </p:grpSpPr>
        <p:sp>
          <p:nvSpPr>
            <p:cNvPr id="51" name="六边形 32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2" name="六边形 37"/>
            <p:cNvSpPr/>
            <p:nvPr/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背景</a:t>
              </a:r>
              <a:endParaRPr lang="zh-CN" alt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53" name="组合 38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54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55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4381834" y="-290264"/>
              <a:ext cx="458762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1</a:t>
              </a:r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57" name="组合 43"/>
          <p:cNvGrpSpPr/>
          <p:nvPr/>
        </p:nvGrpSpPr>
        <p:grpSpPr>
          <a:xfrm>
            <a:off x="4334364" y="2284232"/>
            <a:ext cx="6399716" cy="1134781"/>
            <a:chOff x="3781167" y="-569597"/>
            <a:chExt cx="7100675" cy="1134781"/>
          </a:xfrm>
        </p:grpSpPr>
        <p:sp>
          <p:nvSpPr>
            <p:cNvPr id="58" name="六边形 44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9" name="六边形 48"/>
            <p:cNvSpPr/>
            <p:nvPr/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rgbClr val="3C6BC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方法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60" name="组合 56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61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62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63" name="Rectangle 7"/>
            <p:cNvSpPr>
              <a:spLocks noChangeArrowheads="1"/>
            </p:cNvSpPr>
            <p:nvPr/>
          </p:nvSpPr>
          <p:spPr bwMode="auto">
            <a:xfrm>
              <a:off x="4384609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2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64" name="组合 2"/>
          <p:cNvGrpSpPr/>
          <p:nvPr/>
        </p:nvGrpSpPr>
        <p:grpSpPr>
          <a:xfrm>
            <a:off x="4349602" y="3669367"/>
            <a:ext cx="6399717" cy="1134781"/>
            <a:chOff x="3781167" y="-569597"/>
            <a:chExt cx="7100675" cy="1134781"/>
          </a:xfrm>
        </p:grpSpPr>
        <p:sp>
          <p:nvSpPr>
            <p:cNvPr id="65" name="六边形 3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66" name="六边形 4"/>
            <p:cNvSpPr/>
            <p:nvPr/>
          </p:nvSpPr>
          <p:spPr>
            <a:xfrm>
              <a:off x="4643649" y="-310606"/>
              <a:ext cx="6007989" cy="721882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实验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67" name="组合 5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68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69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70" name="Rectangle 7"/>
            <p:cNvSpPr>
              <a:spLocks noChangeArrowheads="1"/>
            </p:cNvSpPr>
            <p:nvPr/>
          </p:nvSpPr>
          <p:spPr bwMode="auto">
            <a:xfrm>
              <a:off x="4386095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3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71" name="组合 1"/>
          <p:cNvGrpSpPr/>
          <p:nvPr/>
        </p:nvGrpSpPr>
        <p:grpSpPr>
          <a:xfrm>
            <a:off x="4317856" y="5060435"/>
            <a:ext cx="6431044" cy="1134781"/>
            <a:chOff x="3781167" y="-569597"/>
            <a:chExt cx="7100676" cy="1134781"/>
          </a:xfrm>
        </p:grpSpPr>
        <p:sp>
          <p:nvSpPr>
            <p:cNvPr id="72" name="六边形 9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solidFill>
                <a:srgbClr val="FFFFFF"/>
              </a:soli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3" name="六边形 10"/>
            <p:cNvSpPr/>
            <p:nvPr/>
          </p:nvSpPr>
          <p:spPr>
            <a:xfrm>
              <a:off x="4660424" y="-394058"/>
              <a:ext cx="6221419" cy="811227"/>
            </a:xfrm>
            <a:prstGeom prst="hexagon">
              <a:avLst/>
            </a:prstGeom>
            <a:solidFill>
              <a:srgbClr val="3C6BC0"/>
            </a:solidFill>
            <a:ln>
              <a:solidFill>
                <a:srgbClr val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总结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74" name="组合 11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75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FFFFFF"/>
                </a:soli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76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solidFill>
                  <a:srgbClr val="FFFFFF"/>
                </a:soli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77" name="Rectangle 7"/>
            <p:cNvSpPr>
              <a:spLocks noChangeArrowheads="1"/>
            </p:cNvSpPr>
            <p:nvPr/>
          </p:nvSpPr>
          <p:spPr bwMode="auto">
            <a:xfrm>
              <a:off x="4386095" y="-290264"/>
              <a:ext cx="454325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4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 2"/>
          <p:cNvSpPr>
            <a:spLocks noGrp="1"/>
          </p:cNvSpPr>
          <p:nvPr>
            <p:ph type="title"/>
          </p:nvPr>
        </p:nvSpPr>
        <p:spPr>
          <a:xfrm>
            <a:off x="1" y="0"/>
            <a:ext cx="8602960" cy="635000"/>
          </a:xfrm>
        </p:spPr>
        <p:txBody>
          <a:bodyPr>
            <a:no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微软雅黑 Light" panose="020B0502040204020203" charset="-122"/>
                <a:cs typeface="Times New Roman" panose="02020603050405020304" pitchFamily="18" charset="0"/>
              </a:rPr>
              <a:t>背景与动机</a:t>
            </a:r>
            <a:endParaRPr kumimoji="1" lang="zh-CN" altLang="en-US" b="1" dirty="0">
              <a:latin typeface="Times New Roman" panose="02020603050405020304" pitchFamily="18" charset="0"/>
              <a:ea typeface="微软雅黑 Light" panose="020B0502040204020203" charset="-122"/>
              <a:cs typeface="Times New Roman" panose="02020603050405020304" pitchFamily="18" charset="0"/>
            </a:endParaRPr>
          </a:p>
        </p:txBody>
      </p:sp>
      <p:sp>
        <p:nvSpPr>
          <p:cNvPr id="80" name="Rectangle 1"/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Rectangle 2"/>
          <p:cNvSpPr>
            <a:spLocks noChangeArrowheads="1"/>
          </p:cNvSpPr>
          <p:nvPr/>
        </p:nvSpPr>
        <p:spPr bwMode="auto">
          <a:xfrm>
            <a:off x="152400" y="-1245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4"/>
          <p:cNvSpPr txBox="1"/>
          <p:nvPr/>
        </p:nvSpPr>
        <p:spPr>
          <a:xfrm>
            <a:off x="7120255" y="1510665"/>
            <a:ext cx="4570730" cy="3837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在企业、政府、金融、医疗等场景中，业务流程不仅要保证可执行性，还需要满足外部法规与内部制度要求。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一条合规规则往往同时包含主体、行为、顺序、条件、约束和例外等多类语义信息。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因此，需要在流程部署前开展设计时合规检查，以提前发现潜在违规风险。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ae540fc8a89d12ba68e61ea317455dc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1557020"/>
            <a:ext cx="7091045" cy="3790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38035" y="1052830"/>
            <a:ext cx="4439285" cy="3981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为什么业务流程在部署前就要做合规检查？</a:t>
            </a:r>
            <a:endParaRPr lang="zh-CN" altLang="en-US" sz="18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背景与</a:t>
            </a:r>
            <a:r>
              <a:rPr lang="zh-CN" altLang="en-US"/>
              <a:t>动机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245985" y="2213610"/>
            <a:ext cx="4662805" cy="36747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457200" algn="l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</a:rPr>
              <a:t>合规规则通常以自然语言形式存在。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457200" algn="l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457200" algn="l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</a:rPr>
              <a:t>传统方法依赖人工规则 / 关键词，面对复杂表达适应性有限。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457200" algn="l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457200" algn="l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</a:rPr>
              <a:t>因此，本文尝试利用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LLM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</a:rPr>
              <a:t>将法规解析为统一的结构化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Rule Record，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</a:rPr>
              <a:t>供下游合规检查使用。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 descr="3cbf66bc5466e27a23f3833f0026efe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933450"/>
            <a:ext cx="6896100" cy="51733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20280" y="933450"/>
            <a:ext cx="450088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为什么传统方法不够？为什么要引入 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LLM？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eform 5"/>
          <p:cNvSpPr/>
          <p:nvPr/>
        </p:nvSpPr>
        <p:spPr bwMode="auto">
          <a:xfrm>
            <a:off x="517332" y="2149125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8" name="Freeform 5"/>
          <p:cNvSpPr/>
          <p:nvPr/>
        </p:nvSpPr>
        <p:spPr bwMode="auto">
          <a:xfrm>
            <a:off x="627578" y="2137743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9" name="矩形 47"/>
          <p:cNvSpPr/>
          <p:nvPr/>
        </p:nvSpPr>
        <p:spPr>
          <a:xfrm>
            <a:off x="738485" y="2998128"/>
            <a:ext cx="2899077" cy="859155"/>
          </a:xfrm>
          <a:prstGeom prst="rect">
            <a:avLst/>
          </a:prstGeom>
        </p:spPr>
        <p:txBody>
          <a:bodyPr wrap="square" lIns="121891" tIns="60945" rIns="121891" bIns="60945">
            <a:spAutoFit/>
          </a:bodyPr>
          <a:lstStyle/>
          <a:p>
            <a:pPr defTabSz="1245235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kern="0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 Outline</a:t>
            </a:r>
            <a:endParaRPr lang="zh-CN" altLang="en-US" sz="4800" kern="0" dirty="0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90" name="组合 31"/>
          <p:cNvGrpSpPr/>
          <p:nvPr>
            <p:custDataLst>
              <p:tags r:id="rId1"/>
            </p:custDataLst>
          </p:nvPr>
        </p:nvGrpSpPr>
        <p:grpSpPr>
          <a:xfrm>
            <a:off x="4334366" y="867211"/>
            <a:ext cx="6431043" cy="1134781"/>
            <a:chOff x="3781167" y="-569597"/>
            <a:chExt cx="7100675" cy="1134781"/>
          </a:xfrm>
        </p:grpSpPr>
        <p:sp>
          <p:nvSpPr>
            <p:cNvPr id="91" name="六边形 32"/>
            <p:cNvSpPr/>
            <p:nvPr>
              <p:custDataLst>
                <p:tags r:id="rId2"/>
              </p:custDataLst>
            </p:nvPr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92" name="六边形 37"/>
            <p:cNvSpPr/>
            <p:nvPr>
              <p:custDataLst>
                <p:tags r:id="rId3"/>
              </p:custDataLst>
            </p:nvPr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背景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93" name="组合 38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94" name="Freeform 5"/>
              <p:cNvSpPr/>
              <p:nvPr>
                <p:custDataLst>
                  <p:tags r:id="rId4"/>
                </p:custDataLst>
              </p:nvPr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95" name="Freeform 5"/>
              <p:cNvSpPr/>
              <p:nvPr>
                <p:custDataLst>
                  <p:tags r:id="rId5"/>
                </p:custDataLst>
              </p:nvPr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96" name="Rectangle 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381834" y="-290264"/>
              <a:ext cx="458762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1</a:t>
              </a:r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97" name="组合 43"/>
          <p:cNvGrpSpPr/>
          <p:nvPr>
            <p:custDataLst>
              <p:tags r:id="rId7"/>
            </p:custDataLst>
          </p:nvPr>
        </p:nvGrpSpPr>
        <p:grpSpPr>
          <a:xfrm>
            <a:off x="4334364" y="2284232"/>
            <a:ext cx="6399716" cy="1134781"/>
            <a:chOff x="3781167" y="-569597"/>
            <a:chExt cx="7100675" cy="1134781"/>
          </a:xfrm>
        </p:grpSpPr>
        <p:sp>
          <p:nvSpPr>
            <p:cNvPr id="98" name="六边形 44"/>
            <p:cNvSpPr/>
            <p:nvPr>
              <p:custDataLst>
                <p:tags r:id="rId8"/>
              </p:custDataLst>
            </p:nvPr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99" name="六边形 48"/>
            <p:cNvSpPr/>
            <p:nvPr>
              <p:custDataLst>
                <p:tags r:id="rId9"/>
              </p:custDataLst>
            </p:nvPr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rgbClr val="3C6BC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方法</a:t>
              </a:r>
              <a:endParaRPr lang="zh-CN" alt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00" name="组合 56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01" name="Freeform 5"/>
              <p:cNvSpPr/>
              <p:nvPr>
                <p:custDataLst>
                  <p:tags r:id="rId10"/>
                </p:custDataLst>
              </p:nvPr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02" name="Freeform 5"/>
              <p:cNvSpPr/>
              <p:nvPr>
                <p:custDataLst>
                  <p:tags r:id="rId11"/>
                </p:custDataLst>
              </p:nvPr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03" name="Rectangle 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84609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2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04" name="组合 2"/>
          <p:cNvGrpSpPr/>
          <p:nvPr>
            <p:custDataLst>
              <p:tags r:id="rId13"/>
            </p:custDataLst>
          </p:nvPr>
        </p:nvGrpSpPr>
        <p:grpSpPr>
          <a:xfrm>
            <a:off x="4349602" y="3669367"/>
            <a:ext cx="6399717" cy="1134781"/>
            <a:chOff x="3781167" y="-569597"/>
            <a:chExt cx="7100675" cy="1134781"/>
          </a:xfrm>
        </p:grpSpPr>
        <p:sp>
          <p:nvSpPr>
            <p:cNvPr id="105" name="六边形 3"/>
            <p:cNvSpPr/>
            <p:nvPr>
              <p:custDataLst>
                <p:tags r:id="rId14"/>
              </p:custDataLst>
            </p:nvPr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06" name="六边形 4"/>
            <p:cNvSpPr/>
            <p:nvPr>
              <p:custDataLst>
                <p:tags r:id="rId15"/>
              </p:custDataLst>
            </p:nvPr>
          </p:nvSpPr>
          <p:spPr>
            <a:xfrm>
              <a:off x="4643649" y="-310606"/>
              <a:ext cx="6007989" cy="721882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实验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07" name="组合 5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08" name="Freeform 5"/>
              <p:cNvSpPr/>
              <p:nvPr>
                <p:custDataLst>
                  <p:tags r:id="rId16"/>
                </p:custDataLst>
              </p:nvPr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09" name="Freeform 5"/>
              <p:cNvSpPr/>
              <p:nvPr>
                <p:custDataLst>
                  <p:tags r:id="rId17"/>
                </p:custDataLst>
              </p:nvPr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10" name="Rectangle 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386095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3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11" name="组合 1"/>
          <p:cNvGrpSpPr/>
          <p:nvPr>
            <p:custDataLst>
              <p:tags r:id="rId19"/>
            </p:custDataLst>
          </p:nvPr>
        </p:nvGrpSpPr>
        <p:grpSpPr>
          <a:xfrm>
            <a:off x="4317856" y="5060435"/>
            <a:ext cx="6431044" cy="1134781"/>
            <a:chOff x="3781167" y="-569597"/>
            <a:chExt cx="7100676" cy="1134781"/>
          </a:xfrm>
        </p:grpSpPr>
        <p:sp>
          <p:nvSpPr>
            <p:cNvPr id="112" name="六边形 9"/>
            <p:cNvSpPr/>
            <p:nvPr>
              <p:custDataLst>
                <p:tags r:id="rId20"/>
              </p:custDataLst>
            </p:nvPr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solidFill>
                <a:srgbClr val="FFFFFF"/>
              </a:soli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13" name="六边形 10"/>
            <p:cNvSpPr/>
            <p:nvPr>
              <p:custDataLst>
                <p:tags r:id="rId21"/>
              </p:custDataLst>
            </p:nvPr>
          </p:nvSpPr>
          <p:spPr>
            <a:xfrm>
              <a:off x="4660424" y="-394058"/>
              <a:ext cx="6221419" cy="811227"/>
            </a:xfrm>
            <a:prstGeom prst="hexagon">
              <a:avLst/>
            </a:prstGeom>
            <a:solidFill>
              <a:srgbClr val="3C6BC0"/>
            </a:solidFill>
            <a:ln>
              <a:solidFill>
                <a:srgbClr val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总结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14" name="组合 11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15" name="Freeform 5"/>
              <p:cNvSpPr/>
              <p:nvPr>
                <p:custDataLst>
                  <p:tags r:id="rId22"/>
                </p:custDataLst>
              </p:nvPr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FFFFFF"/>
                </a:soli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16" name="Freeform 5"/>
              <p:cNvSpPr/>
              <p:nvPr>
                <p:custDataLst>
                  <p:tags r:id="rId23"/>
                </p:custDataLst>
              </p:nvPr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solidFill>
                  <a:srgbClr val="FFFFFF"/>
                </a:soli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17" name="Rectangle 7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386095" y="-290264"/>
              <a:ext cx="454325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4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</a:t>
            </a:r>
            <a:r>
              <a:rPr lang="en-US" altLang="zh-CN"/>
              <a:t>-</a:t>
            </a:r>
            <a:r>
              <a:rPr lang="zh-CN" altLang="en-US"/>
              <a:t>总览（Part 1 与 Part 2 并行）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859395" y="2161540"/>
            <a:ext cx="4135120" cy="25355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Part 1：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解析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BPMN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结构与标签语义，得到流程语义组件。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 b="1">
                <a:latin typeface="Arial" panose="020B0604020202020204" pitchFamily="34" charset="0"/>
                <a:ea typeface="微软雅黑" panose="020B0503020204020204" pitchFamily="34" charset="-122"/>
              </a:rPr>
              <a:t>Part 2： 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pitchFamily="34" charset="-122"/>
              </a:rPr>
              <a:t>利用 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pitchFamily="34" charset="-122"/>
              </a:rPr>
              <a:t>LLM 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pitchFamily="34" charset="-122"/>
              </a:rPr>
              <a:t>将自然语言法规转换为结构化 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pitchFamily="34" charset="-122"/>
              </a:rPr>
              <a:t>Rule Record。</a:t>
            </a:r>
            <a:endParaRPr lang="en-US" altLang="zh-CN" sz="18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Part 3：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汇合并匹配流程与规则，检测 3 类基础违规与 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pitchFamily="34" charset="-122"/>
              </a:rPr>
              <a:t>4 类扩展违规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 descr="BPC.drawio (2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0" y="764540"/>
            <a:ext cx="7547610" cy="5631180"/>
          </a:xfrm>
          <a:prstGeom prst="rect">
            <a:avLst/>
          </a:prstGeom>
        </p:spPr>
      </p:pic>
      <p:sp>
        <p:nvSpPr>
          <p:cNvPr id="18" name="Part 1 overview label"/>
          <p:cNvSpPr txBox="1"/>
          <p:nvPr/>
        </p:nvSpPr>
        <p:spPr>
          <a:xfrm>
            <a:off x="1982800" y="2897382"/>
            <a:ext cx="1559751" cy="2379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1: Process Model</a:t>
            </a:r>
            <a:endParaRPr lang="en-US" sz="90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Disassembly</a:t>
            </a:r>
            <a:endParaRPr lang="en-US" sz="900"/>
          </a:p>
        </p:txBody>
      </p:sp>
      <p:sp>
        <p:nvSpPr>
          <p:cNvPr id="19" name="Part 2 overview label"/>
          <p:cNvSpPr txBox="1"/>
          <p:nvPr/>
        </p:nvSpPr>
        <p:spPr>
          <a:xfrm>
            <a:off x="1982800" y="3426132"/>
            <a:ext cx="1559751" cy="2379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2: Semantic</a:t>
            </a:r>
            <a:endParaRPr lang="en-US" sz="90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Extraction (LLM-SE)</a:t>
            </a:r>
            <a:endParaRPr lang="en-US" sz="900"/>
          </a:p>
        </p:txBody>
      </p:sp>
      <p:sp>
        <p:nvSpPr>
          <p:cNvPr id="20" name="Part 3 overview label"/>
          <p:cNvSpPr txBox="1"/>
          <p:nvPr/>
        </p:nvSpPr>
        <p:spPr>
          <a:xfrm>
            <a:off x="5948269" y="3161757"/>
            <a:ext cx="1559751" cy="2379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3: Multi-type</a:t>
            </a:r>
            <a:endParaRPr lang="en-US" sz="90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Violation Detection</a:t>
            </a:r>
            <a:endParaRPr lang="en-US" sz="90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3110"/>
              <a:t>方法</a:t>
            </a:r>
            <a:r>
              <a:rPr lang="en-US" altLang="zh-CN" sz="3110"/>
              <a:t>-Part 2 </a:t>
            </a:r>
            <a:r>
              <a:rPr lang="zh-CN" altLang="en-US" sz="3110"/>
              <a:t>总览</a:t>
            </a:r>
            <a:r>
              <a:rPr lang="en-US" altLang="zh-CN" sz="3110"/>
              <a:t>: Semantic Extraction</a:t>
            </a:r>
            <a:endParaRPr lang="en-US" altLang="zh-CN" sz="3110"/>
          </a:p>
        </p:txBody>
      </p:sp>
      <p:sp>
        <p:nvSpPr>
          <p:cNvPr id="7" name="文本框 6"/>
          <p:cNvSpPr txBox="1"/>
          <p:nvPr/>
        </p:nvSpPr>
        <p:spPr>
          <a:xfrm>
            <a:off x="157480" y="5373370"/>
            <a:ext cx="1178687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利用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LLM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完成合规语义抽取，并通过确定性的输出验证与规范化，将生成结果转换为可供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Part 3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使用的结构化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Rule Record。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91770" y="764540"/>
            <a:ext cx="11764645" cy="4620260"/>
          </a:xfrm>
          <a:prstGeom prst="rect">
            <a:avLst/>
          </a:prstGeom>
        </p:spPr>
      </p:pic>
      <p:sp>
        <p:nvSpPr>
          <p:cNvPr id="8" name="Semantic Extraction diagram title"/>
          <p:cNvSpPr txBox="1"/>
          <p:nvPr/>
        </p:nvSpPr>
        <p:spPr>
          <a:xfrm>
            <a:off x="476250" y="685800"/>
            <a:ext cx="11144250" cy="600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imes New Roman"/>
              </a:rPr>
              <a:t>Part 2: Semantic Extraction (LLM-SE)</a:t>
            </a:r>
          </a:p>
        </p:txBody>
      </p:sp>
      <p:sp>
        <p:nvSpPr>
          <p:cNvPr id="9" name="Semantic Extraction method label"/>
          <p:cNvSpPr txBox="1"/>
          <p:nvPr/>
        </p:nvSpPr>
        <p:spPr>
          <a:xfrm>
            <a:off x="4333875" y="1438275"/>
            <a:ext cx="3857625" cy="51435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1750" b="1">
                <a:solidFill>
                  <a:srgbClr val="002060"/>
                </a:solidFill>
                <a:latin typeface="Times New Roman"/>
              </a:rPr>
              <a:t>2. LLM-based</a:t>
            </a:r>
          </a:p>
          <a:p>
            <a:pPr algn="ctr"/>
            <a:r>
              <a:rPr lang="en-US" sz="1750" b="1">
                <a:solidFill>
                  <a:srgbClr val="002060"/>
                </a:solidFill>
                <a:latin typeface="Times New Roman"/>
              </a:rPr>
              <a:t>Semantic Extraction</a:t>
            </a: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</a:t>
            </a:r>
            <a:r>
              <a:rPr lang="en-US" altLang="zh-CN"/>
              <a:t>-Part 1：Process Model Disassembly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0" y="6093460"/>
            <a:ext cx="3676650" cy="1943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本部分沿用 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Sun et al. (2024) 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的流程模型拆解方法。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620395"/>
            <a:ext cx="6894830" cy="25279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65315" y="960120"/>
            <a:ext cx="5226685" cy="15767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①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BPMN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结构解析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从流程模型中直接获取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Activity、Event、Gateway、Pool/Lane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Control Flow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等显式结构信息。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2465"/>
            <a:ext cx="7044055" cy="2108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41820" y="2348865"/>
            <a:ext cx="5233035" cy="11957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② 标签语义解析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Activity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和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Event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的标签通常只是简短文本，不能直接得到其业务语义，因此需要进一步解析。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从标签中进一步提取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Action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和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Business Object。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41820" y="3788410"/>
            <a:ext cx="4875530" cy="12331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③ 构建流程语义表示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将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BPMN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的结构信息与标签解析得到的语义信息进行整合，形成统一的流程语义表示。作为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Part 3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规则匹配与违规检测的流程侧输入。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685" y="5372735"/>
            <a:ext cx="2317750" cy="927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00190" y="5480685"/>
            <a:ext cx="4064000" cy="7118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Action = approve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Business Object = application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23610" y="5661025"/>
            <a:ext cx="575945" cy="287655"/>
          </a:xfrm>
          <a:prstGeom prst="right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</a:t>
            </a:r>
            <a:r>
              <a:rPr lang="en-US" altLang="zh-CN"/>
              <a:t>-Part 2.1：Prompt </a:t>
            </a:r>
            <a:r>
              <a:rPr lang="en-US" altLang="zh-CN"/>
              <a:t>Design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67755" y="908685"/>
            <a:ext cx="4759325" cy="15494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① Field Definitions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告诉模型需要提取哪些信息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Modality / Actor / Action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Condition / Constraint / Exception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每个字段给出明确含义和提取要求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67755" y="2734310"/>
            <a:ext cx="4759325" cy="15500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② Output Specification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规定模型按什么格式输出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输出固定结构的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JSON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每个字段保留对应的原文证据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关系信息使用统一的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ID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表示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67755" y="4725035"/>
            <a:ext cx="4759325" cy="154876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③ Few-shot Examples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用少量示例说明如何完成抽取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展示字段如何划分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展示最终输出格式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示例与测试数据分离，不使用测试集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Gold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 descr="945a3d15702c31da1e6d584da71b7a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0"/>
            <a:ext cx="6039485" cy="558165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</a:t>
            </a:r>
            <a:r>
              <a:rPr lang="en-US" altLang="zh-CN"/>
              <a:t>-Part 2.2：LLM Semantic Parsing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167755" y="908685"/>
            <a:ext cx="5960110" cy="15081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① Semantic Elements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识别法规中的核心语义成分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六要素：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Modality / Actor / Action / Condition / Constraint / Exception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65850" y="2493010"/>
            <a:ext cx="5961380" cy="12592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② Evidence Spans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保留每个结果在原文中的位置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text + start + end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60770" y="3860800"/>
            <a:ext cx="6031230" cy="12807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③ Relations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记录语义元素之间的关系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Actor → Action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Action → Action（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顺序关系）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09310" y="5588635"/>
            <a:ext cx="6307455" cy="3905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Elements + Evidence + Relations → Structured LLM Output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 descr="629be8cf248b0ed11c3fbbbeecb849f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692150"/>
            <a:ext cx="5827395" cy="5647055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方法</a:t>
            </a:r>
            <a:r>
              <a:rPr lang="en-US" altLang="zh-CN"/>
              <a:t>-Part 2.3：Output Validation &amp; Normalization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704205" y="908685"/>
            <a:ext cx="6185535" cy="159639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① Evidence Span Alignment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检查抽取结果是否能对应回法规原文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Evidence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与原文位置一致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坐标有偏移时，只做唯一匹配下的重新定位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64200" y="2276475"/>
            <a:ext cx="6211570" cy="149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② Schema Validation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检查输出格式是否符合要求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字段和数据类型正确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Modality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等取值合法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满足固定的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Rule Record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结构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7535" y="3932555"/>
            <a:ext cx="6211570" cy="14617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③ Cross-field Consistency Check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检查字段之间的引用是否一致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Actor–Action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关系引用已有元素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Order Relation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引用已有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Action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避免无效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ID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或错误关系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4205" y="5876925"/>
            <a:ext cx="61855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Validation &amp; Normalization → Structured Rule Record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 descr="48ded803acf8e461e794ee64ad3846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692150"/>
            <a:ext cx="5566410" cy="566801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0" y="-76835"/>
            <a:ext cx="8910955" cy="768985"/>
          </a:xfrm>
        </p:spPr>
        <p:txBody>
          <a:bodyPr>
            <a:normAutofit/>
          </a:bodyPr>
          <a:p>
            <a:r>
              <a:rPr lang="zh-CN" altLang="en-US"/>
              <a:t>方法-</a:t>
            </a:r>
            <a:r>
              <a:rPr lang="en-US" altLang="zh-CN"/>
              <a:t>Part 3.1：Original Violation Detection</a:t>
            </a:r>
            <a:endParaRPr lang="en-US" altLang="zh-CN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61950" y="838200"/>
            <a:ext cx="11430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规则匹配  Matching Score（Definition 4）</a:t>
            </a:r>
            <a:r>
              <a:rPr lang="en-US"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规则与流程多相关？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28625" y="21145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sz="124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r,m</a:t>
            </a: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：法规 Action 与流程最佳 Action 的配对集合</a:t>
            </a:r>
            <a:endParaRPr sz="17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28625" y="24574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124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r,m</a:t>
            </a: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：法规 Actor 与流程 Actor／Business Object 的最佳配对集合</a:t>
            </a:r>
            <a:endParaRPr sz="17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28625" y="28003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τ：语义匹配阈值。分别统计匹配比例，取较大者衡量规则与流程的相关性。</a:t>
            </a:r>
            <a:endParaRPr sz="165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61950" y="3343275"/>
            <a:ext cx="11430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缺失行为  Missing Action（Definition 5）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要求的动作有没有缺？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8625" y="463867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sz="124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：法规要求的 Action 集合。γ：动作相似度阈值。</a:t>
            </a:r>
            <a:endParaRPr sz="17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28625" y="50101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含义：无法可靠匹配到流程动作的法规 Action，占全部要求动作的比例。</a:t>
            </a:r>
            <a:endParaRPr sz="17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8625" y="540067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示例：法规要求 4 个动作，其中 1 个未匹配，则 action_violation = 1/4。</a:t>
            </a:r>
            <a:endParaRPr sz="165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8625" y="594360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共同符号：r 为 Rule Record，m 为流程模型，sim ∈ [0,1]；[条件] 成立时取 1，否则取 0。</a:t>
            </a:r>
            <a:endParaRPr sz="14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266825"/>
            <a:ext cx="8161020" cy="7372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3787775"/>
            <a:ext cx="8096250" cy="86360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0" y="-76835"/>
            <a:ext cx="8910955" cy="768985"/>
          </a:xfrm>
        </p:spPr>
        <p:txBody>
          <a:bodyPr>
            <a:normAutofit/>
          </a:bodyPr>
          <a:p>
            <a:r>
              <a:rPr lang="zh-CN" altLang="en-US"/>
              <a:t>方法-</a:t>
            </a:r>
            <a:r>
              <a:rPr lang="en-US" altLang="zh-CN"/>
              <a:t>Part 3.1：Original Violation Detection</a:t>
            </a:r>
            <a:endParaRPr lang="en-US" altLang="zh-CN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61950" y="838200"/>
            <a:ext cx="11430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错误执行者  Incorrect Actor（Definition 6）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动作存在，但执行者对不对？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28625" y="21050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sz="124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r,m,γ</a:t>
            </a: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：法规中负责已成功匹配动作的 Actor 集合。</a:t>
            </a:r>
            <a:endParaRPr sz="17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28625" y="24479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sz="124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r,m,γ</a:t>
            </a:r>
            <a:r>
              <a:rPr sz="172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：流程中对应动作关联的 Actor／Business Object 候选集合。</a:t>
            </a:r>
            <a:endParaRPr sz="172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28625" y="27908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ϑ：执行者相似度阈值。原式保留存在量词 ∃，多候选时对不相似项较敏感。</a:t>
            </a:r>
            <a:endParaRPr sz="1575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61950" y="3286125"/>
            <a:ext cx="11430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646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错序执行  Out-of-order Execution（Definition 7）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动作都存在，但顺序对不对？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28625" y="49720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</a:t>
            </a:r>
            <a:r>
              <a:rPr sz="119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r,m,γ</a:t>
            </a: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：法规顺序约束中，两个端点均以 sim &gt; γ 匹配成功的关系。</a:t>
            </a:r>
            <a:endParaRPr sz="165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8625" y="53149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K：顺序正确关系集。φ(u) 为 u 映射的流程动作，F</a:t>
            </a:r>
            <a:r>
              <a:rPr sz="1190" b="0" baseline="-220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表示流程可达关系。</a:t>
            </a:r>
            <a:endParaRPr sz="165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8625" y="56578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正确顺序要求正向可达且反向不可达，例如“先获同意，再获取数据”。</a:t>
            </a:r>
            <a:endParaRPr sz="165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8625" y="60388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解释约定：K 是原文长集合的简写。分母为 0 时没有可检查项，不能据此宣称合规。</a:t>
            </a:r>
            <a:endParaRPr sz="135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200150"/>
            <a:ext cx="9067800" cy="9334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695700"/>
            <a:ext cx="8481695" cy="1219835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方法-Stage 3：扩展检查的对象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方法-Part 3：扩展检查的对象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四类扩展分别检查哪些规则信息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四类扩展分别检查哪些规则信息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581150"/>
          <a:ext cx="11277600" cy="3152775"/>
        </p:xfrm>
        <a:graphic>
          <a:graphicData uri="http://schemas.openxmlformats.org/drawingml/2006/table">
            <a:tbl>
              <a:tblPr/>
              <a:tblGrid>
                <a:gridCol w="2533650"/>
                <a:gridCol w="2762250"/>
                <a:gridCol w="5981700"/>
              </a:tblGrid>
              <a:tr h="4857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违规类型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Rule Record 输入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流程侧需要核对的内容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禁止行为出现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Modality + Action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被禁止的动作是否出现在活动／事件标签中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例：禁止披露个人数据，却存在披露活动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必要条件未落实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Condition + Action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动作执行前的条件是否有对应流程证据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例：操作要求同意，但相关网关未表达同意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约束违反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Constraint + Action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动作相关的时限等约束是否冲突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例：要求 72 小时内完成，绑定限制为 96 小时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例外未处理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Exception + Action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例外触发时是否有相应事件或处理分支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例：撤回同意时应取消，却缺少处理分支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共同前提"/>
          <p:cNvSpPr>
            <a:spLocks noGrp="1"/>
          </p:cNvSpPr>
          <p:nvPr/>
        </p:nvSpPr>
        <p:spPr>
          <a:xfrm>
            <a:off x="495300" y="4933950"/>
            <a:ext cx="110966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共同前提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先明确规则动作及检查范围，再消费对应字段。六要素抽取正确，并不保证流程中有足"/>
          <p:cNvSpPr>
            <a:spLocks noGrp="1"/>
          </p:cNvSpPr>
          <p:nvPr/>
        </p:nvSpPr>
        <p:spPr>
          <a:xfrm>
            <a:off x="495300" y="53530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先明确规则动作及检查范围，再消费对应字段。六要素抽取正确，并不保证流程中有足够证据完成检查。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方法-Stage 3：禁止行为的判定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方法-Part 3：禁止行为的判定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动作存在性与动作定位使用不同阈值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动作存在性与动作定位使用不同阈值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1. 动作存在性得分"/>
          <p:cNvSpPr>
            <a:spLocks noGrp="1"/>
          </p:cNvSpPr>
          <p:nvPr/>
        </p:nvSpPr>
        <p:spPr>
          <a:xfrm>
            <a:off x="495300" y="1524000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动作存在性得分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Sₐ(r, m) = max { sim(aᵣ, p) : p ∈ A(m)"/>
          <p:cNvSpPr>
            <a:spLocks noGrp="1"/>
          </p:cNvSpPr>
          <p:nvPr/>
        </p:nvSpPr>
        <p:spPr>
          <a:xfrm>
            <a:off x="590550" y="198120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62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Sₐ(r, m) = max { sim(aᵣ, p) : p ∈ A(m) }</a:t>
            </a:r>
            <a:endParaRPr sz="2625" b="0">
              <a:solidFill>
                <a:srgbClr val="17233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5" name="aᵣ 是规则动作。A(m) 是流程中有标签的活动／事件集合。Sₐ 取最高相似"/>
          <p:cNvSpPr>
            <a:spLocks noGrp="1"/>
          </p:cNvSpPr>
          <p:nvPr/>
        </p:nvSpPr>
        <p:spPr>
          <a:xfrm>
            <a:off x="590550" y="260032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aᵣ 是规则动作。A(m) 是流程中有标签的活动／事件集合。Sₐ 取最高相似度。</a:t>
            </a:r>
            <a:endParaRPr sz="172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2. 禁止行为报警"/>
          <p:cNvSpPr>
            <a:spLocks noGrp="1"/>
          </p:cNvSpPr>
          <p:nvPr/>
        </p:nvSpPr>
        <p:spPr>
          <a:xfrm>
            <a:off x="495300" y="33051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禁止行为报警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μᵣ = prohibition  ∧  Sₐ ≥ γₑₓₜ = 0.5"/>
          <p:cNvSpPr>
            <a:spLocks noGrp="1"/>
          </p:cNvSpPr>
          <p:nvPr/>
        </p:nvSpPr>
        <p:spPr>
          <a:xfrm>
            <a:off x="590550" y="374332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47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μᵣ = prohibition  ∧  Sₐ ≥ γₑₓₜ = 0.5</a:t>
            </a:r>
            <a:endParaRPr sz="2475" b="0">
              <a:solidFill>
                <a:srgbClr val="17233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8" name="说明性算例：若规则禁止“披露数据”，最佳候选相似度为 0.82，则触发禁止行"/>
          <p:cNvSpPr>
            <a:spLocks noGrp="1"/>
          </p:cNvSpPr>
          <p:nvPr/>
        </p:nvSpPr>
        <p:spPr>
          <a:xfrm>
            <a:off x="590550" y="4352925"/>
            <a:ext cx="108585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说明性算例：若规则禁止“披露数据”，最佳候选相似度为 0.82，则触发禁止行为报警。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其余三类还需要定位到具体动作"/>
          <p:cNvSpPr>
            <a:spLocks noGrp="1"/>
          </p:cNvSpPr>
          <p:nvPr/>
        </p:nvSpPr>
        <p:spPr>
          <a:xfrm>
            <a:off x="495300" y="50768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其余三类还需要定位到具体动作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动作定位使用冻结的 γₘ。当前方案先用 v3（0.8），再按条件使用标签回退"/>
          <p:cNvSpPr>
            <a:spLocks noGrp="1"/>
          </p:cNvSpPr>
          <p:nvPr/>
        </p:nvSpPr>
        <p:spPr>
          <a:xfrm>
            <a:off x="590550" y="5476875"/>
            <a:ext cx="1085850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动作定位使用冻结的 γₘ。当前方案先用 v3（0.8），再按条件使用标签回退（0.4）。</a:t>
            </a:r>
            <a:endParaRPr sz="172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γₑₓₜ 是扩展判定阈值，γₘ 是动作定位阈值。二者作用不同。无可用输入时保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γₑₓₜ 是扩展判定阈值，γₘ 是动作定位阈值。二者作用不同。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方法-Stage 3：条件、约束与例外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方法-Part 3：条件、约束与例外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条件、约束和例外共享证据差异打分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条件、约束和例外共享证据差异打分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可计算的前提"/>
          <p:cNvSpPr>
            <a:spLocks noGrp="1"/>
          </p:cNvSpPr>
          <p:nvPr/>
        </p:nvSpPr>
        <p:spPr>
          <a:xfrm>
            <a:off x="495300" y="1438275"/>
            <a:ext cx="1109662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可计算的前提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规则字段 fᵣ 非空，动作已解析到一个活动，候选证据 Cᶠ(m) 非空。"/>
          <p:cNvSpPr>
            <a:spLocks noGrp="1"/>
          </p:cNvSpPr>
          <p:nvPr/>
        </p:nvSpPr>
        <p:spPr>
          <a:xfrm>
            <a:off x="590550" y="18478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规则字段 fᵣ 非空，动作已解析到一个活动，候选证据 C</a:t>
            </a:r>
            <a:r>
              <a:rPr sz="1295" b="0" baseline="-2500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(m) 非空。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Sᶠ(r, m) = 1 − max { sim(fᵣ, c) : c ∈ "/>
          <p:cNvSpPr>
            <a:spLocks noGrp="1"/>
          </p:cNvSpPr>
          <p:nvPr/>
        </p:nvSpPr>
        <p:spPr>
          <a:xfrm>
            <a:off x="590550" y="2447925"/>
            <a:ext cx="1085850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550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r>
              <a:rPr sz="1835" b="0" baseline="-2500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r>
              <a:rPr sz="2550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(r, m) = 1 − max { sim(fᵣ, c) : c ∈ C</a:t>
            </a:r>
            <a:r>
              <a:rPr sz="1835" b="0" baseline="-2500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r>
              <a:rPr sz="2550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(m) }</a:t>
            </a:r>
            <a:endParaRPr sz="2550" b="0">
              <a:solidFill>
                <a:srgbClr val="17233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6" name="Sᶠ &gt; 0.5 时触发该类报警；Sᶠ ≤ 0.5 时该项不报警"/>
          <p:cNvSpPr>
            <a:spLocks noGrp="1"/>
          </p:cNvSpPr>
          <p:nvPr/>
        </p:nvSpPr>
        <p:spPr>
          <a:xfrm>
            <a:off x="590550" y="31146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sz="1565" b="1" baseline="-25000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sz="217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&gt; 0.5 时触发该类报警；S</a:t>
            </a:r>
            <a:r>
              <a:rPr sz="1565" b="1" baseline="-25000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sz="217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≤ 0.5 时该项不报警</a:t>
            </a:r>
            <a:endParaRPr sz="217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457200" y="3781425"/>
          <a:ext cx="11277600" cy="1781175"/>
        </p:xfrm>
        <a:graphic>
          <a:graphicData uri="http://schemas.openxmlformats.org/drawingml/2006/table">
            <a:tbl>
              <a:tblPr/>
              <a:tblGrid>
                <a:gridCol w="3876675"/>
                <a:gridCol w="2505075"/>
                <a:gridCol w="2305050"/>
                <a:gridCol w="2590800"/>
              </a:tblGrid>
              <a:tr h="4381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说明性算例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最佳证据相似度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差异得分 S</a:t>
                      </a:r>
                      <a:r>
                        <a:rPr sz="1080" b="1" baseline="-25000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该项输出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4476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证据内容接近规则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0.85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0.15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不报警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候选存在但内容差异大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0.20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0.80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报警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没有候选／无法定位动作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不计算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留空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无法判断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 ∈ {condition, constraint, exception}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 ∈ {condition, constraint, exception}。低相似度可能来自证据遗漏或映射错误，不能单独证明法律违规。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方法-Stage 3：证据来源与时间约束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方法-Part 3：证据来源与时间约束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数值冲突需要同时满足动作绑定、适用范围和单位一致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数值冲突需要同时满足动作绑定、适用范围和单位一致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57200" y="1552575"/>
          <a:ext cx="11277600" cy="1905000"/>
        </p:xfrm>
        <a:graphic>
          <a:graphicData uri="http://schemas.openxmlformats.org/drawingml/2006/table">
            <a:tbl>
              <a:tblPr/>
              <a:tblGrid>
                <a:gridCol w="2286000"/>
                <a:gridCol w="8991600"/>
              </a:tblGrid>
              <a:tr h="4191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字段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当前 BPMN 候选来源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4953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Condition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连线标签、条件表达式、网关标签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Constraint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活动标签、数据对象、注释、计时事件和连线标签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Exception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边界事件、错误／升级事件、替代分支及处理活动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明确时间上界冲突"/>
          <p:cNvSpPr>
            <a:spLocks noGrp="1"/>
          </p:cNvSpPr>
          <p:nvPr/>
        </p:nvSpPr>
        <p:spPr>
          <a:xfrm>
            <a:off x="495300" y="3714750"/>
            <a:ext cx="1109662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明确时间上界冲突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ₘ &gt; Tᵣ  ⇒  Sconstraint = 1"/>
          <p:cNvSpPr>
            <a:spLocks noGrp="1"/>
          </p:cNvSpPr>
          <p:nvPr/>
        </p:nvSpPr>
        <p:spPr>
          <a:xfrm>
            <a:off x="590550" y="4171950"/>
            <a:ext cx="10858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62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Tₘ &gt; Tᵣ  ⇒  S</a:t>
            </a:r>
            <a:r>
              <a:rPr sz="1890" b="0" baseline="-2500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constraint</a:t>
            </a:r>
            <a:r>
              <a:rPr sz="2625" b="0">
                <a:solidFill>
                  <a:srgbClr val="17233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= 1</a:t>
            </a:r>
            <a:endParaRPr sz="2625" b="0">
              <a:solidFill>
                <a:srgbClr val="17233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6" name="说明性算例：法规限定 72 h，流程为同一动作绑定 96 h，则 96 &gt; "/>
          <p:cNvSpPr>
            <a:spLocks noGrp="1"/>
          </p:cNvSpPr>
          <p:nvPr/>
        </p:nvSpPr>
        <p:spPr>
          <a:xfrm>
            <a:off x="590550" y="4762500"/>
            <a:ext cx="1085850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说明性算例：法规限定 72 h，流程为同一动作绑定 96 h，则 96 &gt; 72，触发约束报警。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候选来源不等于已经验证作用域。W 修复活动接线；H 尝试加入证据范围与四值判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候选来源不等于已经验证作用域。W 修复活动接线；H 尝试加入证据范围与四值判定，但其旁路条件判断尚有已知缺陷。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5"/>
          <p:cNvSpPr/>
          <p:nvPr/>
        </p:nvSpPr>
        <p:spPr bwMode="auto">
          <a:xfrm>
            <a:off x="517332" y="2149125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23" name="Freeform 5"/>
          <p:cNvSpPr/>
          <p:nvPr/>
        </p:nvSpPr>
        <p:spPr bwMode="auto">
          <a:xfrm>
            <a:off x="627578" y="2137743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24" name="矩形 47"/>
          <p:cNvSpPr/>
          <p:nvPr/>
        </p:nvSpPr>
        <p:spPr>
          <a:xfrm>
            <a:off x="738485" y="2998128"/>
            <a:ext cx="2899077" cy="859155"/>
          </a:xfrm>
          <a:prstGeom prst="rect">
            <a:avLst/>
          </a:prstGeom>
        </p:spPr>
        <p:txBody>
          <a:bodyPr wrap="square" lIns="121891" tIns="60945" rIns="121891" bIns="60945">
            <a:spAutoFit/>
          </a:bodyPr>
          <a:lstStyle/>
          <a:p>
            <a:pPr defTabSz="1245235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kern="0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 Outline</a:t>
            </a:r>
            <a:endParaRPr lang="zh-CN" altLang="en-US" sz="4800" kern="0" dirty="0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125" name="组合 31"/>
          <p:cNvGrpSpPr/>
          <p:nvPr/>
        </p:nvGrpSpPr>
        <p:grpSpPr>
          <a:xfrm>
            <a:off x="4334366" y="867211"/>
            <a:ext cx="6431043" cy="1134781"/>
            <a:chOff x="3781167" y="-569597"/>
            <a:chExt cx="7100675" cy="1134781"/>
          </a:xfrm>
        </p:grpSpPr>
        <p:sp>
          <p:nvSpPr>
            <p:cNvPr id="126" name="六边形 32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27" name="六边形 37"/>
            <p:cNvSpPr/>
            <p:nvPr/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背景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28" name="组合 38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29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30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31" name="Rectangle 7"/>
            <p:cNvSpPr>
              <a:spLocks noChangeArrowheads="1"/>
            </p:cNvSpPr>
            <p:nvPr/>
          </p:nvSpPr>
          <p:spPr bwMode="auto">
            <a:xfrm>
              <a:off x="4381834" y="-290264"/>
              <a:ext cx="458762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1</a:t>
              </a:r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32" name="组合 43"/>
          <p:cNvGrpSpPr/>
          <p:nvPr/>
        </p:nvGrpSpPr>
        <p:grpSpPr>
          <a:xfrm>
            <a:off x="4334364" y="2284232"/>
            <a:ext cx="6399716" cy="1134781"/>
            <a:chOff x="3781167" y="-569597"/>
            <a:chExt cx="7100675" cy="1134781"/>
          </a:xfrm>
        </p:grpSpPr>
        <p:sp>
          <p:nvSpPr>
            <p:cNvPr id="133" name="六边形 44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34" name="六边形 48"/>
            <p:cNvSpPr/>
            <p:nvPr/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rgbClr val="3C6BC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方法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35" name="组合 56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36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37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38" name="Rectangle 7"/>
            <p:cNvSpPr>
              <a:spLocks noChangeArrowheads="1"/>
            </p:cNvSpPr>
            <p:nvPr/>
          </p:nvSpPr>
          <p:spPr bwMode="auto">
            <a:xfrm>
              <a:off x="4384609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2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39" name="组合 2"/>
          <p:cNvGrpSpPr/>
          <p:nvPr/>
        </p:nvGrpSpPr>
        <p:grpSpPr>
          <a:xfrm>
            <a:off x="4349602" y="3669367"/>
            <a:ext cx="6399717" cy="1134781"/>
            <a:chOff x="3781167" y="-569597"/>
            <a:chExt cx="7100675" cy="1134781"/>
          </a:xfrm>
        </p:grpSpPr>
        <p:sp>
          <p:nvSpPr>
            <p:cNvPr id="140" name="六边形 3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41" name="六边形 4"/>
            <p:cNvSpPr/>
            <p:nvPr/>
          </p:nvSpPr>
          <p:spPr>
            <a:xfrm>
              <a:off x="4643649" y="-310606"/>
              <a:ext cx="6007989" cy="721882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zh-CN" sz="36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zh-CN" altLang="en-US" sz="36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实验</a:t>
              </a:r>
              <a:endParaRPr lang="zh-CN" alt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42" name="组合 5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43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44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45" name="Rectangle 7"/>
            <p:cNvSpPr>
              <a:spLocks noChangeArrowheads="1"/>
            </p:cNvSpPr>
            <p:nvPr/>
          </p:nvSpPr>
          <p:spPr bwMode="auto">
            <a:xfrm>
              <a:off x="4386095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3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46" name="组合 1"/>
          <p:cNvGrpSpPr/>
          <p:nvPr/>
        </p:nvGrpSpPr>
        <p:grpSpPr>
          <a:xfrm>
            <a:off x="4317856" y="5060435"/>
            <a:ext cx="6431044" cy="1134781"/>
            <a:chOff x="3781167" y="-569597"/>
            <a:chExt cx="7100676" cy="1134781"/>
          </a:xfrm>
        </p:grpSpPr>
        <p:sp>
          <p:nvSpPr>
            <p:cNvPr id="147" name="六边形 9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solidFill>
                <a:srgbClr val="FFFFFF"/>
              </a:soli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48" name="六边形 10"/>
            <p:cNvSpPr/>
            <p:nvPr/>
          </p:nvSpPr>
          <p:spPr>
            <a:xfrm>
              <a:off x="4660424" y="-394058"/>
              <a:ext cx="6221419" cy="811227"/>
            </a:xfrm>
            <a:prstGeom prst="hexagon">
              <a:avLst/>
            </a:prstGeom>
            <a:solidFill>
              <a:srgbClr val="3C6BC0"/>
            </a:solidFill>
            <a:ln>
              <a:solidFill>
                <a:srgbClr val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总结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49" name="组合 11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50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FFFFFF"/>
                </a:soli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51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solidFill>
                  <a:srgbClr val="FFFFFF"/>
                </a:soli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152" name="Rectangle 7"/>
            <p:cNvSpPr>
              <a:spLocks noChangeArrowheads="1"/>
            </p:cNvSpPr>
            <p:nvPr/>
          </p:nvSpPr>
          <p:spPr bwMode="auto">
            <a:xfrm>
              <a:off x="4386095" y="-290264"/>
              <a:ext cx="454325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4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实验-数据与评价范围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实验-数据与评价范围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每组实验回答不同问题，结果分别报告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每组实验回答不同问题，结果分别报告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57200" y="1543050"/>
          <a:ext cx="11277600" cy="3600450"/>
        </p:xfrm>
        <a:graphic>
          <a:graphicData uri="http://schemas.openxmlformats.org/drawingml/2006/table">
            <a:tbl>
              <a:tblPr/>
              <a:tblGrid>
                <a:gridCol w="2647950"/>
                <a:gridCol w="3362325"/>
                <a:gridCol w="5267325"/>
              </a:tblGrid>
              <a:tr h="4572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数据／评价面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规模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本次用途与证据范围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6286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EStG-150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 句，609 个粗粒度 spans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正式 Part 2 主比较，五字段 F1 与情态标签分开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原三类受控面板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 对中 28 对有效，56 个检查实例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动作名称取自原图，评价检查机制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GDPR 真实法条诊断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 个 BPMN，74 句／92 条规范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33 个指定检查项，评价映射与证据缺口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四类扩展面板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 个变体 + 40 个局部对照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每类 10 对，反复用于开发的回归面板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SIM 卡入网案例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 个流程，5 条主评价规则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开发案例，逐条核对报警与参考问题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同组比较共享输入、标签和评价器。无法判断保留在分母中，成对成功要求变体与对照"/>
          <p:cNvSpPr>
            <a:spLocks noGrp="1"/>
          </p:cNvSpPr>
          <p:nvPr/>
        </p:nvSpPr>
        <p:spPr>
          <a:xfrm>
            <a:off x="495300" y="5391150"/>
            <a:ext cx="1112520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同组比较共享输入、标签和评价器。无法判断保留在分母中，成对成功要求变体与对照同时判断正确。</a:t>
            </a:r>
            <a:endParaRPr sz="172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实验-Stage 2 正式主比较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实验-Part 2 正式主比较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LLM-SE 在动作、条件和约束字段上得分更高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LLM-SE 在动作、条件和约束字段上得分更高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57200" y="1581150"/>
          <a:ext cx="11277600" cy="3448050"/>
        </p:xfrm>
        <a:graphic>
          <a:graphicData uri="http://schemas.openxmlformats.org/drawingml/2006/table">
            <a:tbl>
              <a:tblPr/>
              <a:tblGrid>
                <a:gridCol w="2705100"/>
                <a:gridCol w="1809750"/>
                <a:gridCol w="1971675"/>
                <a:gridCol w="2219325"/>
                <a:gridCol w="2571750"/>
              </a:tblGrid>
              <a:tr h="5905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指标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Rules-Only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LLM-SE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Rules+LLM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Repair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Δ（LLM−Rules）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4667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Actor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0.820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0.758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0.430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−0.062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Action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0.893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0.944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0.895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+0.051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Condition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0.774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0.838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0.777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+0.064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Constraint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0.618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0.743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0.620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+0.125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Exception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0.880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0.762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0.880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−0.118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Modality 准确率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0.740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0.833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0.820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+0.093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ules-Only 在 Actor 和 Exception 上更高。Rep"/>
          <p:cNvSpPr>
            <a:spLocks noGrp="1"/>
          </p:cNvSpPr>
          <p:nvPr/>
        </p:nvSpPr>
        <p:spPr>
          <a:xfrm>
            <a:off x="495300" y="5257800"/>
            <a:ext cx="111252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Rules-Only 在 Actor 和 Exception 上更高。Repair 的 Actor F1 降至 0.430，未显示稳定收益。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150 句，同一冻结粗粒度 Gold。上五行是 span F1，情态为四类标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150 句，同一冻结粗粒度 Gold。上五行是 span F1，情态为四类标签准确率。粗粒度五字段均值：0.797／0.809／0.720（描述性）。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-Stage 2 提示词消融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实验-Part 2 提示词消融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语义示例有小幅正贡献，其余模块存在字段间权衡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语义示例有小幅正贡献，其余模块存在字段间权衡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581150"/>
          <a:ext cx="11277600" cy="2962275"/>
        </p:xfrm>
        <a:graphic>
          <a:graphicData uri="http://schemas.openxmlformats.org/drawingml/2006/table">
            <a:tbl>
              <a:tblPr/>
              <a:tblGrid>
                <a:gridCol w="4162425"/>
                <a:gridCol w="1419225"/>
                <a:gridCol w="2400300"/>
                <a:gridCol w="329565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条件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F1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相对完整方法 ΔF1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主要字段变化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完整方法（6 个合成示例）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0.7719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参照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 条已有完整方法响应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语义示例替换为结构模板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0.7650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−0.0069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Actor F1 下降 0.1317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删除详细语义规则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0.7759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+0.0040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Action 下降，Exception 上升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删除显式 JSON 纪律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0.7790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+0.0071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本批合法输出率仍为 1.0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只删除一个组件，并不保证所有字段同方向变化"/>
          <p:cNvSpPr>
            <a:spLocks noGrp="1"/>
          </p:cNvSpPr>
          <p:nvPr/>
        </p:nvSpPr>
        <p:spPr>
          <a:xfrm>
            <a:off x="495300" y="4857750"/>
            <a:ext cx="11096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只删除一个组件，并不保证所有字段同方向变化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三个改动臂各运行 150 句，450/450 次调用成功。固定同一模型版本，"/>
          <p:cNvSpPr>
            <a:spLocks noGrp="1"/>
          </p:cNvSpPr>
          <p:nvPr/>
        </p:nvSpPr>
        <p:spPr>
          <a:xfrm>
            <a:off x="495300" y="5305425"/>
            <a:ext cx="11096625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三个改动臂各运行 150 句，450/450 次调用成功。固定同一模型版本，单次比较，仅作描述性解释。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本页 F1 为六字段证据 span 的 literal-overlap 汇总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本页 F1 为六字段证据 span 的 literal-overlap 汇总（1055 个 Gold spans），与前页五字段粗 Gold 主口径不同，不跨表比较。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-Stage 2 后处理消融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实验-Part 2 后处理消融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坐标重定位直接影响结构化输出能否进入评价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坐标重定位直接影响结构化输出能否进入评价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581150"/>
          <a:ext cx="11277600" cy="2943225"/>
        </p:xfrm>
        <a:graphic>
          <a:graphicData uri="http://schemas.openxmlformats.org/drawingml/2006/table">
            <a:tbl>
              <a:tblPr/>
              <a:tblGrid>
                <a:gridCol w="3914775"/>
                <a:gridCol w="1304925"/>
                <a:gridCol w="1571625"/>
                <a:gridCol w="1543050"/>
                <a:gridCol w="2943225"/>
              </a:tblGrid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同一批原始响应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F1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有效记录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非空记录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现象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完整后处理链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0.772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148/150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全部通过接口校验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 Output Adapter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0.772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148/150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本批未出现额外增量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 Span Re-anchor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149 条因坐标问题被拒绝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 Canonical Validator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0.772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148/150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本批未观察到无效记录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0 分来自接口拒绝，不代表模型的语义抽取能力归零"/>
          <p:cNvSpPr>
            <a:spLocks noGrp="1"/>
          </p:cNvSpPr>
          <p:nvPr/>
        </p:nvSpPr>
        <p:spPr>
          <a:xfrm>
            <a:off x="495300" y="4857750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 分来自接口拒绝，不代表模型的语义抽取能力归零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Adapter 与 Validator 的分数不变，只能说明当前响应上未测得"/>
          <p:cNvSpPr>
            <a:spLocks noGrp="1"/>
          </p:cNvSpPr>
          <p:nvPr/>
        </p:nvSpPr>
        <p:spPr>
          <a:xfrm>
            <a:off x="495300" y="5314950"/>
            <a:ext cx="1109662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Adapter 与 Validator 的分数不变，只能说明当前响应上未测得增量。二者仍承担输出兼容和一致性检查。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固定 150 条原始响应，离线重放，新增 API 调用为 0。所有样本进入分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 150 条原始响应，离线重放，新增 API 调用为 0。所有样本进入分母，F1 口径与提示词消融一致。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-Stage 3 原三类受控结果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实验-Part 3 原三类受控结果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动作名称取自原图时，v3 在固定面板上完成 27/28 对判断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动作名称取自原图时，v3 在固定面板上完成 27/28 对判断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562100"/>
          <a:ext cx="11277600" cy="3238500"/>
        </p:xfrm>
        <a:graphic>
          <a:graphicData uri="http://schemas.openxmlformats.org/drawingml/2006/table">
            <a:tbl>
              <a:tblPr/>
              <a:tblGrid>
                <a:gridCol w="4095750"/>
                <a:gridCol w="2400300"/>
                <a:gridCol w="2362200"/>
                <a:gridCol w="241935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指标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冻结 Sun 重建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动作匹配 v2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动作结构匹配 v3</a:t>
                      </a:r>
                      <a:endParaRPr sz="165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4476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Missing Action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0.667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0.889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0.947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Incorrect Actor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0.696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Out-of-order 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三类 Macro-F1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0.787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0.963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0.982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成对成功（/28）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27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无法判断（/56）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sz="172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这组结果验证受控面板上的检查机制"/>
          <p:cNvSpPr>
            <a:spLocks noGrp="1"/>
          </p:cNvSpPr>
          <p:nvPr/>
        </p:nvSpPr>
        <p:spPr>
          <a:xfrm>
            <a:off x="495300" y="5048250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这组结果验证受控面板上的检查机制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30 对中 2 对契约未解决。规范动作来自原图，本实验基本排除了法条与流程的"/>
          <p:cNvSpPr>
            <a:spLocks noGrp="1"/>
          </p:cNvSpPr>
          <p:nvPr/>
        </p:nvSpPr>
        <p:spPr>
          <a:xfrm>
            <a:off x="495300" y="5486400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 对中 2 对契约未解决。规范动作来自原图，本实验基本排除了法条与流程的语义映射难度。</a:t>
            </a:r>
            <a:endParaRPr sz="165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开发性合成实验。正例 unknown 计漏检，对照 unknown 不计正确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开发性合成实验。正例 unknown 计漏检，对照 unknown 不计正确。这里的 0.982 不能解释为真实 GDPR 合规准确率。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实验-Stage 3 真实法条诊断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实验-Part 3 真实法条诊断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接入人工规则后，Sun 与 v3 的 33 项输出完全一致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接入人工规则后，Sun 与 v3 的 33 项输出完全一致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57200" y="1581150"/>
          <a:ext cx="11277600" cy="2286000"/>
        </p:xfrm>
        <a:graphic>
          <a:graphicData uri="http://schemas.openxmlformats.org/drawingml/2006/table">
            <a:tbl>
              <a:tblPr/>
              <a:tblGrid>
                <a:gridCol w="2971800"/>
                <a:gridCol w="1362075"/>
                <a:gridCol w="3476625"/>
                <a:gridCol w="3467100"/>
              </a:tblGrid>
              <a:tr h="4857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指定检查类型</a:t>
                      </a:r>
                      <a:endParaRPr sz="172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检查项</a:t>
                      </a:r>
                      <a:endParaRPr sz="172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Sun 输出</a:t>
                      </a:r>
                      <a:endParaRPr sz="172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v3 输出</a:t>
                      </a:r>
                      <a:endParaRPr sz="172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Missing Action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报警，1 无法判断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报警，1 无法判断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Incorrect Actor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 无法判断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 无法判断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Out-of-order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 无法判断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 无法判断</a:t>
                      </a:r>
                      <a:endParaRPr sz="180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阻碍发生在规则与流程的衔接"/>
          <p:cNvSpPr>
            <a:spLocks noGrp="1"/>
          </p:cNvSpPr>
          <p:nvPr/>
        </p:nvSpPr>
        <p:spPr>
          <a:xfrm>
            <a:off x="495300" y="4219575"/>
            <a:ext cx="110966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主要阻碍发生在规则与流程的衔接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执行者比较缺少可靠动作绑定。9 段法条的结构化顺序关系均为空，只有 3 条已"/>
          <p:cNvSpPr>
            <a:spLocks noGrp="1"/>
          </p:cNvSpPr>
          <p:nvPr/>
        </p:nvSpPr>
        <p:spPr>
          <a:xfrm>
            <a:off x="495300" y="4676775"/>
            <a:ext cx="11096625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执行者比较缺少可靠动作绑定。9 段法条的结构化顺序关系均为空，只有 3 条已确认文字说明能够补充顺序证据。</a:t>
            </a:r>
            <a:endParaRPr sz="1800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原 33 条标签仍需明确目标活动、规范范围和原图／变体身份，并补合规对照。"/>
          <p:cNvSpPr>
            <a:spLocks noGrp="1"/>
          </p:cNvSpPr>
          <p:nvPr/>
        </p:nvSpPr>
        <p:spPr>
          <a:xfrm>
            <a:off x="495300" y="5514975"/>
            <a:ext cx="110966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 33 条标签仍需明确目标活动、规范范围和原图／变体身份，并补合规对照。</a:t>
            </a:r>
            <a:endParaRPr sz="172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这是开发诊断，10 项报警不直接等于 10 项正确检出。当前不以旧 33 条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这是开发诊断，10 项报警不直接等于 10 项正确检出。当前不以旧 33 条标签报告分类能力或正式 Oracle 上限。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-四类扩展的后端比较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实验-四类扩展的后端比较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四方法在 40 个违规变体上的分类结果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四方法在 40 个违规变体上的分类结果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581150"/>
          <a:ext cx="11277600" cy="3114675"/>
        </p:xfrm>
        <a:graphic>
          <a:graphicData uri="http://schemas.openxmlformats.org/drawingml/2006/table">
            <a:tbl>
              <a:tblPr/>
              <a:tblGrid>
                <a:gridCol w="2895600"/>
                <a:gridCol w="1676400"/>
                <a:gridCol w="1600200"/>
                <a:gridCol w="1600200"/>
                <a:gridCol w="1676400"/>
                <a:gridCol w="18288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禁止行为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条件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约束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例外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Macro-F1</a:t>
                      </a:r>
                      <a:endParaRPr sz="18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Winter-style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0.952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0.235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0.308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0.474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Sun-style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0.952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0.238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BM25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0.571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0.143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TF-IDF/SVD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0.000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0.333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0.167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0.375</a:t>
                      </a:r>
                      <a:endParaRPr sz="18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禁止动作存在性的得分较高，条件与例外检查仍然薄弱"/>
          <p:cNvSpPr>
            <a:spLocks noGrp="1"/>
          </p:cNvSpPr>
          <p:nvPr/>
        </p:nvSpPr>
        <p:spPr>
          <a:xfrm>
            <a:off x="495300" y="4991100"/>
            <a:ext cx="11096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禁止动作存在性的得分较高，条件与例外检查仍然薄弱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四方法沿用同一扩展打分形式，使用各自冻结的相似度后端和动作阈值。这张表不能反"/>
          <p:cNvSpPr>
            <a:spLocks noGrp="1"/>
          </p:cNvSpPr>
          <p:nvPr/>
        </p:nvSpPr>
        <p:spPr>
          <a:xfrm>
            <a:off x="495300" y="5457825"/>
            <a:ext cx="110966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四方法沿用同一扩展打分形式，使用各自冻结的相似度后端和动作阈值。这张表不能反映对照侧报警。</a:t>
            </a:r>
            <a:endParaRPr sz="172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2026-09-07 保存的参考结果，开发面板每类 10 个变体。与下一页的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2026-09-07 保存的参考结果，开发面板每类 10 个变体。与下一页的后继臂分开报告，未合成七类总 F1。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-四类扩展的最新开发结果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实验-四类扩展的最新开发结果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C：比较门方案    W：C + 定位接线修复    H：W + 证据范围判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C：比较门方案    W：C + 定位接线修复    H：W + 证据范围判定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Chart"/>
          <p:cNvGraphicFramePr/>
          <p:nvPr/>
        </p:nvGraphicFramePr>
        <p:xfrm>
          <a:off x="571500" y="1457325"/>
          <a:ext cx="1104900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457200" y="3857625"/>
          <a:ext cx="11277600" cy="1657350"/>
        </p:xfrm>
        <a:graphic>
          <a:graphicData uri="http://schemas.openxmlformats.org/drawingml/2006/table">
            <a:tbl>
              <a:tblPr/>
              <a:tblGrid>
                <a:gridCol w="1019175"/>
                <a:gridCol w="2228850"/>
                <a:gridCol w="2085975"/>
                <a:gridCol w="2105025"/>
                <a:gridCol w="2200275"/>
                <a:gridCol w="1638300"/>
              </a:tblGrid>
              <a:tr h="428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臂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变体 Macro-F1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对照报警 /40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对照 none /40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对照 unknown /40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成对成功 /40</a:t>
                      </a:r>
                      <a:endParaRPr sz="1500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0.4896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0.5234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0.3517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sz="1575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W 多判对 1 个变体，但对照报警增加 6 个。H 存在已知旁路判断缺陷，方"/>
          <p:cNvSpPr>
            <a:spLocks noGrp="1"/>
          </p:cNvSpPr>
          <p:nvPr/>
        </p:nvSpPr>
        <p:spPr>
          <a:xfrm>
            <a:off x="495300" y="5581650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 多判对 1 个变体，但对照报警增加 6 个。H 存在已知旁路判断缺陷，方法验收未通过。</a:t>
            </a:r>
            <a:endParaRPr sz="17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每臂 40 个变体（均无判合规项）+ 40 个局部对照。none 为未报警的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每臂 40 个变体（均无判合规项）+ 40 个局部对照。none 为未报警的明确输出，unknown 为弃权；对照报警不等于已证实法律误报。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-SIM 卡入网开发案例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实验-SIM 卡入网开发案例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同一流程与 5 条规则，逐项核对报警是否对应参考问题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同一流程与 5 条规则，逐项核对报警是否对应参考问题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562100"/>
          <a:ext cx="11277600" cy="3028950"/>
        </p:xfrm>
        <a:graphic>
          <a:graphicData uri="http://schemas.openxmlformats.org/drawingml/2006/table">
            <a:tbl>
              <a:tblPr/>
              <a:tblGrid>
                <a:gridCol w="4600575"/>
                <a:gridCol w="2219325"/>
                <a:gridCol w="2228850"/>
                <a:gridCol w="2228850"/>
              </a:tblGrid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参考问题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 LLM + 三类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LLM + 三类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74A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LLM + 七类</a:t>
                      </a:r>
                      <a:endParaRPr sz="1575" b="1">
                        <a:solidFill>
                          <a:srgbClr val="074A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E8EFF6"/>
                    </a:solidFill>
                  </a:tcPr>
                </a:tc>
              </a:tr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r8  30 天内的流程终止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r9  缺少信息核验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无报警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有证据对应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有证据对应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r10  SIM 激活执行者错误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有证据对应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有证据对应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r11  同意与信息获取的顺序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r13  金额阈值冲突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无报警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33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未证实对应</a:t>
                      </a:r>
                      <a:endParaRPr sz="1650" b="0">
                        <a:solidFill>
                          <a:srgbClr val="17233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修复对照也需要检查输入是否可用"/>
          <p:cNvSpPr>
            <a:spLocks noGrp="1"/>
          </p:cNvSpPr>
          <p:nvPr/>
        </p:nvSpPr>
        <p:spPr>
          <a:xfrm>
            <a:off x="495300" y="4876800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修复对照也需要检查输入是否可用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5 个修复件中 3 个满足有效评价前提，方法识别修复为 0/3。另 2 个分"/>
          <p:cNvSpPr>
            <a:spLocks noGrp="1"/>
          </p:cNvSpPr>
          <p:nvPr/>
        </p:nvSpPr>
        <p:spPr>
          <a:xfrm>
            <a:off x="495300" y="5305425"/>
            <a:ext cx="1109662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个修复件中 3 个满足有效评价前提，方法识别修复为 0/3。另 2 个分别因 Part 1 未传递修复语义、规则条件为空而排除。</a:t>
            </a:r>
            <a:endParaRPr sz="172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开发性单案例，复用已有真实 LLM 预测。已对应检出为 0/5、2/5、2/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开发性单案例，复用已有真实 LLM 预测。已对应检出为 0/5、2/5、2/5；“未证实对应”保留机器报警，不算正确检出。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/>
          <p:nvPr/>
        </p:nvSpPr>
        <p:spPr bwMode="auto">
          <a:xfrm>
            <a:off x="517332" y="2149125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3" name="Freeform 5"/>
          <p:cNvSpPr/>
          <p:nvPr/>
        </p:nvSpPr>
        <p:spPr bwMode="auto">
          <a:xfrm>
            <a:off x="627578" y="2137743"/>
            <a:ext cx="2949995" cy="261455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665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4" name="矩形 47"/>
          <p:cNvSpPr/>
          <p:nvPr/>
        </p:nvSpPr>
        <p:spPr>
          <a:xfrm>
            <a:off x="738485" y="2998128"/>
            <a:ext cx="2899077" cy="859155"/>
          </a:xfrm>
          <a:prstGeom prst="rect">
            <a:avLst/>
          </a:prstGeom>
        </p:spPr>
        <p:txBody>
          <a:bodyPr wrap="square" lIns="121891" tIns="60945" rIns="121891" bIns="60945">
            <a:spAutoFit/>
          </a:bodyPr>
          <a:lstStyle/>
          <a:p>
            <a:pPr defTabSz="1245235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kern="0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 Outline</a:t>
            </a:r>
            <a:endParaRPr lang="zh-CN" altLang="en-US" sz="4800" kern="0" dirty="0">
              <a:solidFill>
                <a:srgbClr val="005A9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15" name="组合 31"/>
          <p:cNvGrpSpPr/>
          <p:nvPr/>
        </p:nvGrpSpPr>
        <p:grpSpPr>
          <a:xfrm>
            <a:off x="4334366" y="867211"/>
            <a:ext cx="6431043" cy="1134781"/>
            <a:chOff x="3781167" y="-569597"/>
            <a:chExt cx="7100675" cy="1134781"/>
          </a:xfrm>
        </p:grpSpPr>
        <p:sp>
          <p:nvSpPr>
            <p:cNvPr id="16" name="六边形 32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7" name="六边形 37"/>
            <p:cNvSpPr/>
            <p:nvPr/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背景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8" name="组合 38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19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0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4381834" y="-290264"/>
              <a:ext cx="458762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1</a:t>
              </a:r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22" name="组合 43"/>
          <p:cNvGrpSpPr/>
          <p:nvPr/>
        </p:nvGrpSpPr>
        <p:grpSpPr>
          <a:xfrm>
            <a:off x="4334364" y="2284232"/>
            <a:ext cx="6399716" cy="1134781"/>
            <a:chOff x="3781167" y="-569597"/>
            <a:chExt cx="7100675" cy="1134781"/>
          </a:xfrm>
        </p:grpSpPr>
        <p:sp>
          <p:nvSpPr>
            <p:cNvPr id="23" name="六边形 44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4" name="六边形 48"/>
            <p:cNvSpPr/>
            <p:nvPr/>
          </p:nvSpPr>
          <p:spPr>
            <a:xfrm>
              <a:off x="4660425" y="-394058"/>
              <a:ext cx="6085941" cy="811227"/>
            </a:xfrm>
            <a:prstGeom prst="hexagon">
              <a:avLst/>
            </a:prstGeom>
            <a:solidFill>
              <a:srgbClr val="3C6BC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方法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25" name="组合 56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26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7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4384609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2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29" name="组合 2"/>
          <p:cNvGrpSpPr/>
          <p:nvPr/>
        </p:nvGrpSpPr>
        <p:grpSpPr>
          <a:xfrm>
            <a:off x="4349602" y="3669367"/>
            <a:ext cx="6399717" cy="1134781"/>
            <a:chOff x="3781167" y="-569597"/>
            <a:chExt cx="7100675" cy="1134781"/>
          </a:xfrm>
        </p:grpSpPr>
        <p:sp>
          <p:nvSpPr>
            <p:cNvPr id="30" name="六边形 3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gradFill>
                <a:gsLst>
                  <a:gs pos="0">
                    <a:schemeClr val="bg1">
                      <a:lumMod val="71000"/>
                      <a:lumOff val="29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1" name="六边形 4"/>
            <p:cNvSpPr/>
            <p:nvPr/>
          </p:nvSpPr>
          <p:spPr>
            <a:xfrm>
              <a:off x="4643649" y="-310606"/>
              <a:ext cx="6007989" cy="721882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实验</a:t>
              </a:r>
              <a:endPara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32" name="组合 5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33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chemeClr val="bg1">
                        <a:lumMod val="75000"/>
                      </a:schemeClr>
                    </a:gs>
                    <a:gs pos="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34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4386095" y="-290264"/>
              <a:ext cx="456549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3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36" name="组合 1"/>
          <p:cNvGrpSpPr/>
          <p:nvPr/>
        </p:nvGrpSpPr>
        <p:grpSpPr>
          <a:xfrm>
            <a:off x="4317856" y="5060435"/>
            <a:ext cx="6431044" cy="1134781"/>
            <a:chOff x="3781167" y="-569597"/>
            <a:chExt cx="7100676" cy="1134781"/>
          </a:xfrm>
        </p:grpSpPr>
        <p:sp>
          <p:nvSpPr>
            <p:cNvPr id="37" name="六边形 9"/>
            <p:cNvSpPr/>
            <p:nvPr/>
          </p:nvSpPr>
          <p:spPr>
            <a:xfrm>
              <a:off x="3781167" y="-486605"/>
              <a:ext cx="7100675" cy="1008112"/>
            </a:xfrm>
            <a:prstGeom prst="hexagon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solidFill>
                <a:srgbClr val="FFFFFF"/>
              </a:solidFill>
            </a:ln>
            <a:effectLst>
              <a:outerShdw blurRad="482600" dist="241300" dir="2700000" algn="t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 sz="2665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8" name="六边形 10"/>
            <p:cNvSpPr/>
            <p:nvPr/>
          </p:nvSpPr>
          <p:spPr>
            <a:xfrm>
              <a:off x="4660424" y="-394058"/>
              <a:ext cx="6221419" cy="811227"/>
            </a:xfrm>
            <a:prstGeom prst="hexagon">
              <a:avLst/>
            </a:prstGeom>
            <a:solidFill>
              <a:srgbClr val="3C6BC0"/>
            </a:solidFill>
            <a:ln>
              <a:solidFill>
                <a:srgbClr val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zh-CN" altLang="en-US" sz="36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rPr>
                <a:t>总结</a:t>
              </a:r>
              <a:endParaRPr lang="zh-CN" alt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39" name="组合 11"/>
            <p:cNvGrpSpPr/>
            <p:nvPr/>
          </p:nvGrpSpPr>
          <p:grpSpPr>
            <a:xfrm rot="16200000">
              <a:off x="4093035" y="-642392"/>
              <a:ext cx="1134781" cy="1280371"/>
              <a:chOff x="8439634" y="3544648"/>
              <a:chExt cx="1611146" cy="1817848"/>
            </a:xfrm>
          </p:grpSpPr>
          <p:sp>
            <p:nvSpPr>
              <p:cNvPr id="40" name="Freeform 5"/>
              <p:cNvSpPr/>
              <p:nvPr/>
            </p:nvSpPr>
            <p:spPr bwMode="auto">
              <a:xfrm rot="5400000">
                <a:off x="8336283" y="3647999"/>
                <a:ext cx="1817848" cy="161114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7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FFFFFF"/>
                </a:soli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41" name="Freeform 5"/>
              <p:cNvSpPr/>
              <p:nvPr/>
            </p:nvSpPr>
            <p:spPr bwMode="auto">
              <a:xfrm rot="5400000">
                <a:off x="8582835" y="3866516"/>
                <a:ext cx="1324744" cy="117411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5875">
                <a:solidFill>
                  <a:srgbClr val="FFFFFF"/>
                </a:soli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665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4386095" y="-290264"/>
              <a:ext cx="454325" cy="6451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4</a:t>
              </a:r>
              <a:endPara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总结-主要结论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总结-主要结论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当前证据支持字段级抽取改进，端到端收益仍需补证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当前证据支持字段级抽取改进，端到端收益仍需补证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法规解析已经形成可比较的结果"/>
          <p:cNvSpPr>
            <a:spLocks noGrp="1"/>
          </p:cNvSpPr>
          <p:nvPr/>
        </p:nvSpPr>
        <p:spPr>
          <a:xfrm>
            <a:off x="495300" y="151447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法规解析已经形成可比较的结果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EStG-150 正式比较中，LLM-SE 的动作、条件和约束 F1"/>
          <p:cNvSpPr>
            <a:spLocks noGrp="1"/>
          </p:cNvSpPr>
          <p:nvPr/>
        </p:nvSpPr>
        <p:spPr>
          <a:xfrm>
            <a:off x="495300" y="198120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EStG-150 正式比较中，LLM-SE 的动作、条件和约束 F1 更高，情态准确率也更高。规则基线在执行者与例外字段上仍有优势。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原三类检查在受控面板上有进展"/>
          <p:cNvSpPr>
            <a:spLocks noGrp="1"/>
          </p:cNvSpPr>
          <p:nvPr/>
        </p:nvSpPr>
        <p:spPr>
          <a:xfrm>
            <a:off x="495300" y="2895600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原三类检查在受控面板上有进展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动作结构匹配 v3 达到 27/28 对成功，但规范直接来自流程标签。真实法"/>
          <p:cNvSpPr>
            <a:spLocks noGrp="1"/>
          </p:cNvSpPr>
          <p:nvPr/>
        </p:nvSpPr>
        <p:spPr>
          <a:xfrm>
            <a:off x="495300" y="3362325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动作结构匹配 v3 达到 27/28 对成功，但规范直接来自流程标签。真实法条输入仍受动作绑定与顺序证据不足限制。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四类扩展仍处于开发验证阶段"/>
          <p:cNvSpPr>
            <a:spLocks noGrp="1"/>
          </p:cNvSpPr>
          <p:nvPr/>
        </p:nvSpPr>
        <p:spPr>
          <a:xfrm>
            <a:off x="495300" y="427672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四类扩展仍处于开发验证阶段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禁止动作较容易识别。条件、约束和例外的检查需要更可靠的证据范围与控制语义，最"/>
          <p:cNvSpPr>
            <a:spLocks noGrp="1"/>
          </p:cNvSpPr>
          <p:nvPr/>
        </p:nvSpPr>
        <p:spPr>
          <a:xfrm>
            <a:off x="495300" y="474345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禁止动作较容易识别。条件、约束和例外的检查需要更可靠的证据范围与控制语义，最新修复尚未同时改善检出和对照表现。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研究主线沿用 Sun 三阶段框架，主要工作集中在法规解析与下游扩展检查。当前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研究主线沿用 Sun 三部分框架，主要工作集中在法规解析与下游扩展检查。当前不作正式端到端整体提升声明。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总结-当前局限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总结-当前局限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局限集中在评价范围、语义映射和流程证据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局限集中在评价范围、语义映射和流程证据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开发面板尚不能证明泛化"/>
          <p:cNvSpPr>
            <a:spLocks noGrp="1"/>
          </p:cNvSpPr>
          <p:nvPr/>
        </p:nvSpPr>
        <p:spPr>
          <a:xfrm>
            <a:off x="495300" y="151447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开发面板尚不能证明泛化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原三类与四类受控面板都已经用于开发。Prompt 消融仅运行一次，SIM 为"/>
          <p:cNvSpPr>
            <a:spLocks noGrp="1"/>
          </p:cNvSpPr>
          <p:nvPr/>
        </p:nvSpPr>
        <p:spPr>
          <a:xfrm>
            <a:off x="495300" y="198120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原三类与四类受控面板都已经用于开发。Prompt 消融仅运行一次，SIM 为单案例，现有结果适合描述具体差异。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抽取正确不一定能够定位流程活动"/>
          <p:cNvSpPr>
            <a:spLocks noGrp="1"/>
          </p:cNvSpPr>
          <p:nvPr/>
        </p:nvSpPr>
        <p:spPr>
          <a:xfrm>
            <a:off x="495300" y="2895600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抽取正确不一定能够定位流程活动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真实法条和 BPMN 标签的表达差异较大。规则侧缺少顺序关系时，检查器也无法"/>
          <p:cNvSpPr>
            <a:spLocks noGrp="1"/>
          </p:cNvSpPr>
          <p:nvPr/>
        </p:nvSpPr>
        <p:spPr>
          <a:xfrm>
            <a:off x="495300" y="3362325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真实法条和 BPMN 标签的表达差异较大。规则侧缺少顺序关系时，检查器也无法仅凭更好的动作匹配完成顺序判断。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可见文本不足以证明条件与例外语义"/>
          <p:cNvSpPr>
            <a:spLocks noGrp="1"/>
          </p:cNvSpPr>
          <p:nvPr/>
        </p:nvSpPr>
        <p:spPr>
          <a:xfrm>
            <a:off x="495300" y="427672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可见文本不足以证明条件与例外语义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中的网关、事件、计时与处理分支需要明确绑定到目标活动。H 的旁路判断存在"/>
          <p:cNvSpPr>
            <a:spLocks noGrp="1"/>
          </p:cNvSpPr>
          <p:nvPr/>
        </p:nvSpPr>
        <p:spPr>
          <a:xfrm>
            <a:off x="495300" y="474345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流程中的网关、事件、计时与处理分支需要明确绑定到目标活动。H 的旁路判断存在已知缺陷，必须先修正再评价。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GDPR 旧 33 条标签的检查范围仍待对齐。独立测试、合规对照及扩展四类的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GDPR 旧 33 条标签的检查范围仍待对齐。独立测试、合规对照及扩展四类的人工评价协议尚需补齐。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总结-下一步工作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总结-下一步工作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先解决会影响结论的前提，再补充独立评价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先解决会影响结论的前提，再补充独立评价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明确每个检查项对应的规范与流程范围"/>
          <p:cNvSpPr>
            <a:spLocks noGrp="1"/>
          </p:cNvSpPr>
          <p:nvPr/>
        </p:nvSpPr>
        <p:spPr>
          <a:xfrm>
            <a:off x="495300" y="151447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明确每个检查项对应的规范与流程范围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逐项确认目标动作、法条和原图／变体身份，补齐合规对照。保留原有标签和失败样本"/>
          <p:cNvSpPr>
            <a:spLocks noGrp="1"/>
          </p:cNvSpPr>
          <p:nvPr/>
        </p:nvSpPr>
        <p:spPr>
          <a:xfrm>
            <a:off x="495300" y="198120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逐项确认目标动作、法条和原图／变体身份，补齐合规对照。保留原有标签和失败样本，形成可复核的评价单位。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修正动作绑定与条件旁路判断"/>
          <p:cNvSpPr>
            <a:spLocks noGrp="1"/>
          </p:cNvSpPr>
          <p:nvPr/>
        </p:nvSpPr>
        <p:spPr>
          <a:xfrm>
            <a:off x="495300" y="2895600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修正动作绑定与条件旁路判断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统一定位结果与候选证据的活动身份。对条件旁路检查增加可达性约束，分别确认时间"/>
          <p:cNvSpPr>
            <a:spLocks noGrp="1"/>
          </p:cNvSpPr>
          <p:nvPr/>
        </p:nvSpPr>
        <p:spPr>
          <a:xfrm>
            <a:off x="495300" y="3362325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统一定位结果与候选证据的活动身份。对条件旁路检查增加可达性约束，分别确认时间上界与异常处理的作用域。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完成同法域的抽取与下游成对比较"/>
          <p:cNvSpPr>
            <a:spLocks noGrp="1"/>
          </p:cNvSpPr>
          <p:nvPr/>
        </p:nvSpPr>
        <p:spPr>
          <a:xfrm>
            <a:off x="495300" y="427672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完成同法域的抽取与下游成对比较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在相同流程、规则接口和评价协议下比较 Rules-Only 与 Direct"/>
          <p:cNvSpPr>
            <a:spLocks noGrp="1"/>
          </p:cNvSpPr>
          <p:nvPr/>
        </p:nvSpPr>
        <p:spPr>
          <a:xfrm>
            <a:off x="495300" y="474345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在相同流程、规则接口和评价协议下比较 Rules-Only 与 LLM-SE，并追踪字段错误怎样传递到下游。独立测试集与开发面板分开。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完成上述前提后，在独立冻结数据上评价端到端效果，单独报告错误类型与无法判断比"/>
          <p:cNvSpPr>
            <a:spLocks noGrp="1"/>
          </p:cNvSpPr>
          <p:nvPr/>
        </p:nvSpPr>
        <p:spPr>
          <a:xfrm>
            <a:off x="476250" y="592455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4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完成上述前提后，在独立冻结数据上评价端到端效果，单独报告错误类型与无法判断比例。</a:t>
            </a:r>
            <a:endParaRPr sz="1275" b="0">
              <a:solidFill>
                <a:srgbClr val="54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希望导师指导的问题"/>
          <p:cNvSpPr>
            <a:spLocks noGrp="1"/>
          </p:cNvSpPr>
          <p:nvPr/>
        </p:nvSpPr>
        <p:spPr>
          <a:xfrm>
            <a:off x="152400" y="28575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希望导师指导的问题</a:t>
            </a:r>
            <a:endParaRPr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研究范围与剩余实验安排"/>
          <p:cNvSpPr>
            <a:spLocks noGrp="1"/>
          </p:cNvSpPr>
          <p:nvPr/>
        </p:nvSpPr>
        <p:spPr>
          <a:xfrm>
            <a:off x="457200" y="857250"/>
            <a:ext cx="112585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研究范围与剩余实验安排</a:t>
            </a:r>
            <a:endParaRPr sz="2025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论文的主要贡献如何聚焦"/>
          <p:cNvSpPr>
            <a:spLocks noGrp="1"/>
          </p:cNvSpPr>
          <p:nvPr/>
        </p:nvSpPr>
        <p:spPr>
          <a:xfrm>
            <a:off x="495300" y="162877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论文的主要贡献如何聚焦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是否以法规解析作为主要贡献，将四类扩展作为开发性探索，并以真实案例说明适用范"/>
          <p:cNvSpPr>
            <a:spLocks noGrp="1"/>
          </p:cNvSpPr>
          <p:nvPr/>
        </p:nvSpPr>
        <p:spPr>
          <a:xfrm>
            <a:off x="495300" y="2095500"/>
            <a:ext cx="1109662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是否以法规解析作为主要贡献，将四类扩展作为开发性探索，并以真实案例说明适用范围？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剩余实验应优先补什么"/>
          <p:cNvSpPr>
            <a:spLocks noGrp="1"/>
          </p:cNvSpPr>
          <p:nvPr/>
        </p:nvSpPr>
        <p:spPr>
          <a:xfrm>
            <a:off x="495300" y="292417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剩余实验应优先补什么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下一步优先补齐真实法条到流程的映射与成对对照，还是先完成条件和例外检查的结构"/>
          <p:cNvSpPr>
            <a:spLocks noGrp="1"/>
          </p:cNvSpPr>
          <p:nvPr/>
        </p:nvSpPr>
        <p:spPr>
          <a:xfrm>
            <a:off x="495300" y="3390900"/>
            <a:ext cx="1109662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下一步优先补齐真实法条到流程的映射与成对对照，还是先完成条件和例外检查的结构语义？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达到论文结论需要哪些证据"/>
          <p:cNvSpPr>
            <a:spLocks noGrp="1"/>
          </p:cNvSpPr>
          <p:nvPr/>
        </p:nvSpPr>
        <p:spPr>
          <a:xfrm>
            <a:off x="495300" y="4219575"/>
            <a:ext cx="1109662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达到论文结论需要哪些证据</a:t>
            </a:r>
            <a:endParaRPr sz="2100" b="1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独立人工评价、合规对照和跨模型重复实验，应分别完成到什么范围，才能支持最终方"/>
          <p:cNvSpPr>
            <a:spLocks noGrp="1"/>
          </p:cNvSpPr>
          <p:nvPr/>
        </p:nvSpPr>
        <p:spPr>
          <a:xfrm>
            <a:off x="495300" y="4686300"/>
            <a:ext cx="1109662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3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独立人工评价、合规对照和跨模型重复实验，应分别完成到什么范围，才能支持最终方法结论？</a:t>
            </a:r>
            <a:endParaRPr sz="1875" b="0">
              <a:solidFill>
                <a:srgbClr val="1723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谢谢老师"/>
          <p:cNvSpPr>
            <a:spLocks noGrp="1"/>
          </p:cNvSpPr>
          <p:nvPr/>
        </p:nvSpPr>
        <p:spPr>
          <a:xfrm>
            <a:off x="495300" y="5715000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74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谢谢老师</a:t>
            </a:r>
            <a:endParaRPr sz="2175" b="0">
              <a:solidFill>
                <a:srgbClr val="074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2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3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4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5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6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7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8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9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0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1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2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3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4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5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6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7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8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19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20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21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22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23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ags/tag24.xml><?xml version="1.0" encoding="utf-8"?>
<p:tagLst xmlns:p="http://schemas.openxmlformats.org/presentationml/2006/main">
  <p:tag name="KSO_WM_DIAGRAM_VIRTUALLY_FRAME" val="{&quot;height&quot;:419.5279527559055,&quot;left&quot;:339.9886614173228,&quot;top&quot;:68.28433070866141,&quot;width&quot;:507.681338582677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Times New Roman"/>
        <a:ea typeface="微软雅黑 Light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8180</Words>
  <Application>WPS 演示</Application>
  <PresentationFormat/>
  <Paragraphs>969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仿宋</vt:lpstr>
      <vt:lpstr>Times New Roman</vt:lpstr>
      <vt:lpstr>-apple-system</vt:lpstr>
      <vt:lpstr>微软雅黑 Light</vt:lpstr>
      <vt:lpstr>Arial Unicode MS</vt:lpstr>
      <vt:lpstr>等线</vt:lpstr>
      <vt:lpstr>Segoe Print</vt:lpstr>
      <vt:lpstr>Cambria Math</vt:lpstr>
      <vt:lpstr>MS PGothic</vt:lpstr>
      <vt:lpstr>Office 主题​​</vt:lpstr>
      <vt:lpstr>PowerPoint 演示文稿</vt:lpstr>
      <vt:lpstr>PowerPoint 演示文稿</vt:lpstr>
      <vt:lpstr>背景与动机</vt:lpstr>
      <vt:lpstr>背景与动机</vt:lpstr>
      <vt:lpstr>PowerPoint 演示文稿</vt:lpstr>
      <vt:lpstr>方法-总览</vt:lpstr>
      <vt:lpstr>方法-Stage 2 总览: Direct-LLM Regulatory Parsing</vt:lpstr>
      <vt:lpstr>方法-Stage 1：Process Model Disassembly</vt:lpstr>
      <vt:lpstr>方法-Stage 2.1：Prompt Design</vt:lpstr>
      <vt:lpstr>方法-Stage 2.2：LLM Semantic Parsing</vt:lpstr>
      <vt:lpstr>方法-Stage 2.3：Output Validation &amp; Normalization</vt:lpstr>
      <vt:lpstr>方法-Stage 3.1：Original Violation Detection</vt:lpstr>
      <vt:lpstr>方法-Stage 3.1：Original Violation Detection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WPS_1789020518</cp:lastModifiedBy>
  <cp:revision>99</cp:revision>
  <dcterms:created xsi:type="dcterms:W3CDTF">2025-12-23T06:57:00Z</dcterms:created>
  <dcterms:modified xsi:type="dcterms:W3CDTF">2026-09-12T09:46:00Z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2052-12.1.0.28485</vt:lpwstr>
  </property>
  <property fmtid="{D5CDD505-2E9C-101B-9397-08002B2CF9AE}" pid="3" name="ICV">
    <vt:lpwstr>0743A3943AD34EA3ADECDD03EE60C431_12</vt:lpwstr>
  </property>
</Properties>
</file>